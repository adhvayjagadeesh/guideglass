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deck is that anyone on the team can regenerate every figure in the paper and get byte-identical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point for reviewers. Simulation validates the decision layer, not perception.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only in that sim_reflex must be importable. Running all three takes under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claim that makes the study contestable. Anyone can rebuild it and get the same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Camera model is 60 degrees vertical, 46 horizontal, 10 fps, 1.4 m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limits. Owning them is what makes the reproducibility claim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1298448"/>
            <a:ext cx="7863840" cy="457200"/>
          </a:xfrm>
          <a:prstGeom prst="rect">
            <a:avLst/>
          </a:prstGeom>
          <a:noFill/>
          <a:ln/>
        </p:spPr>
        <p:txBody>
          <a:bodyPr wrap="square" lIns="0" tIns="0" rIns="0" bIns="0" rtlCol="0" anchor="ctr"/>
          <a:lstStyle/>
          <a:p>
            <a:pPr indent="0" marL="0">
              <a:buNone/>
            </a:pPr>
            <a:r>
              <a:rPr lang="en-US" sz="2600" dirty="0">
                <a:solidFill>
                  <a:srgbClr val="AEC3D6"/>
                </a:solidFill>
                <a:latin typeface="Cambria" pitchFamily="34" charset="0"/>
                <a:ea typeface="Cambria" pitchFamily="34" charset="-122"/>
                <a:cs typeface="Cambria" pitchFamily="34" charset="-120"/>
              </a:rPr>
              <a:t>Replicating the</a:t>
            </a:r>
            <a:endParaRPr lang="en-US" sz="2600" dirty="0"/>
          </a:p>
        </p:txBody>
      </p:sp>
      <p:sp>
        <p:nvSpPr>
          <p:cNvPr id="3" name="Text 1"/>
          <p:cNvSpPr/>
          <p:nvPr/>
        </p:nvSpPr>
        <p:spPr>
          <a:xfrm>
            <a:off x="640080" y="1737360"/>
            <a:ext cx="7863840" cy="7772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VisionAI Reflex Simulations</a:t>
            </a:r>
            <a:endParaRPr lang="en-US" sz="4200" dirty="0"/>
          </a:p>
        </p:txBody>
      </p:sp>
      <p:sp>
        <p:nvSpPr>
          <p:cNvPr id="4" name="Text 2"/>
          <p:cNvSpPr/>
          <p:nvPr/>
        </p:nvSpPr>
        <p:spPr>
          <a:xfrm>
            <a:off x="640080" y="2670048"/>
            <a:ext cx="7223760" cy="548640"/>
          </a:xfrm>
          <a:prstGeom prst="rect">
            <a:avLst/>
          </a:prstGeom>
          <a:noFill/>
          <a:ln/>
        </p:spPr>
        <p:txBody>
          <a:bodyPr wrap="square" lIns="0" tIns="0" rIns="0" bIns="0" rtlCol="0" anchor="ctr"/>
          <a:lstStyle/>
          <a:p>
            <a:pPr indent="0" marL="0">
              <a:buNone/>
            </a:pPr>
            <a:r>
              <a:rPr lang="en-US" sz="1500" i="1" dirty="0">
                <a:solidFill>
                  <a:srgbClr val="C7D6E4"/>
                </a:solidFill>
                <a:latin typeface="Calibri" pitchFamily="34" charset="0"/>
                <a:ea typeface="Calibri" pitchFamily="34" charset="-122"/>
                <a:cs typeface="Calibri" pitchFamily="34" charset="-120"/>
              </a:rPr>
              <a:t>Every figure and number in the Results section, reproduced from three scripts in under ten seconds.</a:t>
            </a:r>
            <a:endParaRPr lang="en-US" sz="1500" dirty="0"/>
          </a:p>
        </p:txBody>
      </p:sp>
      <p:sp>
        <p:nvSpPr>
          <p:cNvPr id="5" name="Shape 3"/>
          <p:cNvSpPr/>
          <p:nvPr/>
        </p:nvSpPr>
        <p:spPr>
          <a:xfrm>
            <a:off x="640080" y="3456432"/>
            <a:ext cx="2788920" cy="420624"/>
          </a:xfrm>
          <a:prstGeom prst="roundRect">
            <a:avLst>
              <a:gd name="adj" fmla="val 10870"/>
            </a:avLst>
          </a:prstGeom>
          <a:solidFill>
            <a:srgbClr val="FFB627"/>
          </a:solidFill>
          <a:ln/>
        </p:spPr>
      </p:sp>
      <p:sp>
        <p:nvSpPr>
          <p:cNvPr id="6" name="Text 4"/>
          <p:cNvSpPr/>
          <p:nvPr/>
        </p:nvSpPr>
        <p:spPr>
          <a:xfrm>
            <a:off x="640080" y="3456432"/>
            <a:ext cx="2788920" cy="420624"/>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13 figures  ·  3 result files</a:t>
            </a:r>
            <a:endParaRPr lang="en-US" sz="1300" dirty="0"/>
          </a:p>
        </p:txBody>
      </p:sp>
      <p:sp>
        <p:nvSpPr>
          <p:cNvPr id="7" name="Text 5"/>
          <p:cNvSpPr/>
          <p:nvPr/>
        </p:nvSpPr>
        <p:spPr>
          <a:xfrm>
            <a:off x="5577840" y="3529584"/>
            <a:ext cx="2926080" cy="274320"/>
          </a:xfrm>
          <a:prstGeom prst="rect">
            <a:avLst/>
          </a:prstGeom>
          <a:noFill/>
          <a:ln/>
        </p:spPr>
        <p:txBody>
          <a:bodyPr wrap="square" lIns="0" tIns="0" rIns="0" bIns="0" rtlCol="0" anchor="ctr"/>
          <a:lstStyle/>
          <a:p>
            <a:pPr algn="r" indent="0" marL="0">
              <a:buNone/>
            </a:pPr>
            <a:r>
              <a:rPr lang="en-US" sz="1200" dirty="0">
                <a:solidFill>
                  <a:srgbClr val="8FA6BC"/>
                </a:solidFill>
                <a:latin typeface="Calibri" pitchFamily="34" charset="0"/>
                <a:ea typeface="Calibri" pitchFamily="34" charset="-122"/>
                <a:cs typeface="Calibri" pitchFamily="34" charset="-120"/>
              </a:rPr>
              <a:t>ASDRP  ·  paper/simulation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CONCEPT</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is actually being simulated</a:t>
            </a:r>
            <a:endParaRPr lang="en-US" sz="3000" dirty="0"/>
          </a:p>
        </p:txBody>
      </p:sp>
      <p:sp>
        <p:nvSpPr>
          <p:cNvPr id="4" name="Text 2"/>
          <p:cNvSpPr/>
          <p:nvPr/>
        </p:nvSpPr>
        <p:spPr>
          <a:xfrm>
            <a:off x="502920" y="1298448"/>
            <a:ext cx="3977640" cy="1371600"/>
          </a:xfrm>
          <a:prstGeom prst="rect">
            <a:avLst/>
          </a:prstGeom>
          <a:noFill/>
          <a:ln/>
        </p:spPr>
        <p:txBody>
          <a:bodyPr wrap="square" lIns="0" tIns="0" rIns="0" bIns="0" rtlCol="0" anchor="ctr"/>
          <a:lstStyle/>
          <a:p>
            <a:pPr indent="0" marL="0">
              <a:lnSpc>
                <a:spcPts val="2000"/>
              </a:lnSpc>
              <a:buNone/>
            </a:pPr>
            <a:r>
              <a:rPr lang="en-US" sz="1400" b="1" dirty="0">
                <a:solidFill>
                  <a:srgbClr val="1A1A1A"/>
                </a:solidFill>
                <a:latin typeface="Calibri" pitchFamily="34" charset="0"/>
                <a:ea typeface="Calibri" pitchFamily="34" charset="-122"/>
                <a:cs typeface="Calibri" pitchFamily="34" charset="-120"/>
              </a:rPr>
              <a:t>We do not simulate the neural detector.</a:t>
            </a:r>
            <a:endParaRPr lang="en-US" sz="1400" dirty="0"/>
          </a:p>
          <a:p>
            <a:pPr indent="0" marL="0">
              <a:lnSpc>
                <a:spcPts val="2000"/>
              </a:lnSpc>
              <a:buNone/>
            </a:pPr>
            <a:r>
              <a:rPr lang="en-US" sz="1400" dirty="0">
                <a:solidFill>
                  <a:srgbClr val="3D4451"/>
                </a:solidFill>
                <a:latin typeface="Calibri" pitchFamily="34" charset="0"/>
                <a:ea typeface="Calibri" pitchFamily="34" charset="-122"/>
                <a:cs typeface="Calibri" pitchFamily="34" charset="-120"/>
              </a:rPr>
              <a:t>ML Kit runs only on Android. Instead the app's decision layer is ported to Python line for line, keeping every shipped constant, and is fed synthetic bounding boxes generated from camera geometry.</a:t>
            </a:r>
            <a:endParaRPr lang="en-US" sz="1400" dirty="0"/>
          </a:p>
        </p:txBody>
      </p:sp>
      <p:sp>
        <p:nvSpPr>
          <p:cNvPr id="5" name="Text 3"/>
          <p:cNvSpPr/>
          <p:nvPr/>
        </p:nvSpPr>
        <p:spPr>
          <a:xfrm>
            <a:off x="502920" y="2788920"/>
            <a:ext cx="3977640" cy="822960"/>
          </a:xfrm>
          <a:prstGeom prst="rect">
            <a:avLst/>
          </a:prstGeom>
          <a:noFill/>
          <a:ln/>
        </p:spPr>
        <p:txBody>
          <a:bodyPr wrap="square" lIns="0" tIns="0" rIns="0" bIns="0" rtlCol="0" anchor="ctr"/>
          <a:lstStyle/>
          <a:p>
            <a:pPr indent="0" marL="0">
              <a:lnSpc>
                <a:spcPts val="2000"/>
              </a:lnSpc>
              <a:buNone/>
            </a:pPr>
            <a:r>
              <a:rPr lang="en-US" sz="1400" dirty="0">
                <a:solidFill>
                  <a:srgbClr val="3D4451"/>
                </a:solidFill>
                <a:latin typeface="Calibri" pitchFamily="34" charset="0"/>
                <a:ea typeface="Calibri" pitchFamily="34" charset="-122"/>
                <a:cs typeface="Calibri" pitchFamily="34" charset="-120"/>
              </a:rPr>
              <a:t>So the study measures whether the decision brain does the right thing given a detection, </a:t>
            </a:r>
            <a:pPr indent="0" marL="0">
              <a:lnSpc>
                <a:spcPts val="2000"/>
              </a:lnSpc>
              <a:buNone/>
            </a:pPr>
            <a:r>
              <a:rPr lang="en-US" sz="1400" b="1" dirty="0">
                <a:solidFill>
                  <a:srgbClr val="1A1A1A"/>
                </a:solidFill>
                <a:latin typeface="Calibri" pitchFamily="34" charset="0"/>
                <a:ea typeface="Calibri" pitchFamily="34" charset="-122"/>
                <a:cs typeface="Calibri" pitchFamily="34" charset="-120"/>
              </a:rPr>
              <a:t>not whether the camera sees the obstacle.</a:t>
            </a:r>
            <a:endParaRPr lang="en-US" sz="1400" dirty="0"/>
          </a:p>
        </p:txBody>
      </p:sp>
      <p:sp>
        <p:nvSpPr>
          <p:cNvPr id="6" name="Shape 4"/>
          <p:cNvSpPr/>
          <p:nvPr/>
        </p:nvSpPr>
        <p:spPr>
          <a:xfrm>
            <a:off x="4800600" y="1371600"/>
            <a:ext cx="3840480" cy="914400"/>
          </a:xfrm>
          <a:prstGeom prst="roundRect">
            <a:avLst>
              <a:gd name="adj" fmla="val 5000"/>
            </a:avLst>
          </a:prstGeom>
          <a:solidFill>
            <a:srgbClr val="F1F4F8"/>
          </a:solidFill>
          <a:ln/>
        </p:spPr>
      </p:sp>
      <p:sp>
        <p:nvSpPr>
          <p:cNvPr id="7" name="Text 5"/>
          <p:cNvSpPr/>
          <p:nvPr/>
        </p:nvSpPr>
        <p:spPr>
          <a:xfrm>
            <a:off x="5001768" y="1499616"/>
            <a:ext cx="3438144" cy="274320"/>
          </a:xfrm>
          <a:prstGeom prst="rect">
            <a:avLst/>
          </a:prstGeom>
          <a:noFill/>
          <a:ln/>
        </p:spPr>
        <p:txBody>
          <a:bodyPr wrap="square" lIns="0" tIns="0" rIns="0" bIns="0" rtlCol="0" anchor="ctr"/>
          <a:lstStyle/>
          <a:p>
            <a:pPr indent="0" marL="0">
              <a:buNone/>
            </a:pPr>
            <a:r>
              <a:rPr lang="en-US" sz="1400" b="1" dirty="0">
                <a:solidFill>
                  <a:srgbClr val="7A8290"/>
                </a:solidFill>
                <a:latin typeface="Calibri" pitchFamily="34" charset="0"/>
                <a:ea typeface="Calibri" pitchFamily="34" charset="-122"/>
                <a:cs typeface="Calibri" pitchFamily="34" charset="-120"/>
              </a:rPr>
              <a:t>Real app</a:t>
            </a:r>
            <a:endParaRPr lang="en-US" sz="1400" dirty="0"/>
          </a:p>
        </p:txBody>
      </p:sp>
      <p:sp>
        <p:nvSpPr>
          <p:cNvPr id="8" name="Text 6"/>
          <p:cNvSpPr/>
          <p:nvPr/>
        </p:nvSpPr>
        <p:spPr>
          <a:xfrm>
            <a:off x="5001768" y="1792224"/>
            <a:ext cx="3438144" cy="402336"/>
          </a:xfrm>
          <a:prstGeom prst="rect">
            <a:avLst/>
          </a:prstGeom>
          <a:noFill/>
          <a:ln/>
        </p:spPr>
        <p:txBody>
          <a:bodyPr wrap="square" lIns="0" tIns="0" rIns="0" bIns="0" rtlCol="0" anchor="ctr"/>
          <a:lstStyle/>
          <a:p>
            <a:pPr indent="0" marL="0">
              <a:buNone/>
            </a:pPr>
            <a:r>
              <a:rPr lang="en-US" sz="1100" dirty="0">
                <a:solidFill>
                  <a:srgbClr val="3D4451"/>
                </a:solidFill>
                <a:latin typeface="Courier New" pitchFamily="34" charset="0"/>
                <a:ea typeface="Courier New" pitchFamily="34" charset="-122"/>
                <a:cs typeface="Courier New" pitchFamily="34" charset="-120"/>
              </a:rPr>
              <a:t>ML Kit boxes  to  Kotlin rules  to  speech</a:t>
            </a:r>
            <a:endParaRPr lang="en-US" sz="1100" dirty="0"/>
          </a:p>
        </p:txBody>
      </p:sp>
      <p:sp>
        <p:nvSpPr>
          <p:cNvPr id="9" name="Shape 7"/>
          <p:cNvSpPr/>
          <p:nvPr/>
        </p:nvSpPr>
        <p:spPr>
          <a:xfrm>
            <a:off x="4800600" y="2487168"/>
            <a:ext cx="3840480" cy="914400"/>
          </a:xfrm>
          <a:prstGeom prst="roundRect">
            <a:avLst>
              <a:gd name="adj" fmla="val 5000"/>
            </a:avLst>
          </a:prstGeom>
          <a:solidFill>
            <a:srgbClr val="F1F4F8"/>
          </a:solidFill>
          <a:ln/>
        </p:spPr>
      </p:sp>
      <p:sp>
        <p:nvSpPr>
          <p:cNvPr id="10" name="Text 8"/>
          <p:cNvSpPr/>
          <p:nvPr/>
        </p:nvSpPr>
        <p:spPr>
          <a:xfrm>
            <a:off x="5001768" y="2615184"/>
            <a:ext cx="3438144" cy="27432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Simulation</a:t>
            </a:r>
            <a:endParaRPr lang="en-US" sz="1400" dirty="0"/>
          </a:p>
        </p:txBody>
      </p:sp>
      <p:sp>
        <p:nvSpPr>
          <p:cNvPr id="11" name="Text 9"/>
          <p:cNvSpPr/>
          <p:nvPr/>
        </p:nvSpPr>
        <p:spPr>
          <a:xfrm>
            <a:off x="5001768" y="2907792"/>
            <a:ext cx="3438144" cy="402336"/>
          </a:xfrm>
          <a:prstGeom prst="rect">
            <a:avLst/>
          </a:prstGeom>
          <a:noFill/>
          <a:ln/>
        </p:spPr>
        <p:txBody>
          <a:bodyPr wrap="square" lIns="0" tIns="0" rIns="0" bIns="0" rtlCol="0" anchor="ctr"/>
          <a:lstStyle/>
          <a:p>
            <a:pPr indent="0" marL="0">
              <a:buNone/>
            </a:pPr>
            <a:r>
              <a:rPr lang="en-US" sz="1100" dirty="0">
                <a:solidFill>
                  <a:srgbClr val="3D4451"/>
                </a:solidFill>
                <a:latin typeface="Courier New" pitchFamily="34" charset="0"/>
                <a:ea typeface="Courier New" pitchFamily="34" charset="-122"/>
                <a:cs typeface="Courier New" pitchFamily="34" charset="-120"/>
              </a:rPr>
              <a:t>Synthetic boxes  to  ported rules  to  logged decision</a:t>
            </a:r>
            <a:endParaRPr lang="en-US" sz="1100" dirty="0"/>
          </a:p>
        </p:txBody>
      </p:sp>
      <p:sp>
        <p:nvSpPr>
          <p:cNvPr id="12" name="Shape 10"/>
          <p:cNvSpPr/>
          <p:nvPr/>
        </p:nvSpPr>
        <p:spPr>
          <a:xfrm>
            <a:off x="4800600" y="3639312"/>
            <a:ext cx="3840480" cy="566928"/>
          </a:xfrm>
          <a:prstGeom prst="roundRect">
            <a:avLst>
              <a:gd name="adj" fmla="val 8065"/>
            </a:avLst>
          </a:prstGeom>
          <a:solidFill>
            <a:srgbClr val="21295C"/>
          </a:solidFill>
          <a:ln/>
        </p:spPr>
      </p:sp>
      <p:sp>
        <p:nvSpPr>
          <p:cNvPr id="13" name="Text 11"/>
          <p:cNvSpPr/>
          <p:nvPr/>
        </p:nvSpPr>
        <p:spPr>
          <a:xfrm>
            <a:off x="4800600" y="3639312"/>
            <a:ext cx="384048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Identical rules. Identical constants. Synthetic eyes.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STEP ONE</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Setup</a:t>
            </a:r>
            <a:endParaRPr lang="en-US" sz="3000" dirty="0"/>
          </a:p>
        </p:txBody>
      </p:sp>
      <p:sp>
        <p:nvSpPr>
          <p:cNvPr id="4" name="Text 2"/>
          <p:cNvSpPr/>
          <p:nvPr/>
        </p:nvSpPr>
        <p:spPr>
          <a:xfrm>
            <a:off x="502920" y="1207008"/>
            <a:ext cx="8138160" cy="292608"/>
          </a:xfrm>
          <a:prstGeom prst="rect">
            <a:avLst/>
          </a:prstGeom>
          <a:noFill/>
          <a:ln/>
        </p:spPr>
        <p:txBody>
          <a:bodyPr wrap="square" lIns="0" tIns="0" rIns="0" bIns="0" rtlCol="0" anchor="ctr"/>
          <a:lstStyle/>
          <a:p>
            <a:pPr indent="0" marL="0">
              <a:buNone/>
            </a:pPr>
            <a:r>
              <a:rPr lang="en-US" sz="1400" dirty="0">
                <a:solidFill>
                  <a:srgbClr val="3D4451"/>
                </a:solidFill>
                <a:latin typeface="Calibri" pitchFamily="34" charset="0"/>
                <a:ea typeface="Calibri" pitchFamily="34" charset="-122"/>
                <a:cs typeface="Calibri" pitchFamily="34" charset="-120"/>
              </a:rPr>
              <a:t>Two libraries and a clone. Nothing else is required.</a:t>
            </a:r>
            <a:endParaRPr lang="en-US" sz="1400" dirty="0"/>
          </a:p>
        </p:txBody>
      </p:sp>
      <p:sp>
        <p:nvSpPr>
          <p:cNvPr id="5" name="Shape 3"/>
          <p:cNvSpPr/>
          <p:nvPr/>
        </p:nvSpPr>
        <p:spPr>
          <a:xfrm>
            <a:off x="502920" y="1627632"/>
            <a:ext cx="5074920" cy="1691640"/>
          </a:xfrm>
          <a:prstGeom prst="roundRect">
            <a:avLst>
              <a:gd name="adj" fmla="val 3243"/>
            </a:avLst>
          </a:prstGeom>
          <a:solidFill>
            <a:srgbClr val="21295C"/>
          </a:solidFill>
          <a:ln/>
        </p:spPr>
      </p:sp>
      <p:sp>
        <p:nvSpPr>
          <p:cNvPr id="6" name="Text 4"/>
          <p:cNvSpPr/>
          <p:nvPr/>
        </p:nvSpPr>
        <p:spPr>
          <a:xfrm>
            <a:off x="667512" y="1737360"/>
            <a:ext cx="4745736" cy="1472184"/>
          </a:xfrm>
          <a:prstGeom prst="rect">
            <a:avLst/>
          </a:prstGeom>
          <a:noFill/>
          <a:ln/>
        </p:spPr>
        <p:txBody>
          <a:bodyPr wrap="square" lIns="0" tIns="0" rIns="0" bIns="0" rtlCol="0" anchor="ctr"/>
          <a:lstStyle/>
          <a:p>
            <a:pPr indent="0" marL="0">
              <a:lnSpc>
                <a:spcPts val="1800"/>
              </a:lnSpc>
              <a:buNone/>
            </a:pPr>
            <a:r>
              <a:rPr lang="en-US" sz="1200" dirty="0">
                <a:solidFill>
                  <a:srgbClr val="9FB3C8"/>
                </a:solidFill>
                <a:latin typeface="Courier New" pitchFamily="34" charset="0"/>
                <a:ea typeface="Courier New" pitchFamily="34" charset="-122"/>
                <a:cs typeface="Courier New" pitchFamily="34" charset="-120"/>
              </a:rPr>
              <a:t># tested on python 3.13.5, numpy 2.1.3, matplotlib 3.10.0</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pip install numpy matplotlib</a:t>
            </a:r>
            <a:endParaRPr lang="en-US" sz="1200" dirty="0"/>
          </a:p>
          <a:p>
            <a:pPr indent="0" marL="0">
              <a:lnSpc>
                <a:spcPts val="1800"/>
              </a:lnSpc>
              <a:buNone/>
            </a:pP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git clone https://github.com/adhvayjagadeesh/GuideGlass.git</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cd GuideGlass/paper/simulation</a:t>
            </a:r>
            <a:endParaRPr lang="en-US" sz="1200" dirty="0"/>
          </a:p>
        </p:txBody>
      </p:sp>
      <p:sp>
        <p:nvSpPr>
          <p:cNvPr id="7" name="Shape 5"/>
          <p:cNvSpPr/>
          <p:nvPr/>
        </p:nvSpPr>
        <p:spPr>
          <a:xfrm>
            <a:off x="5806440" y="1627632"/>
            <a:ext cx="2834640" cy="1691640"/>
          </a:xfrm>
          <a:prstGeom prst="roundRect">
            <a:avLst>
              <a:gd name="adj" fmla="val 2703"/>
            </a:avLst>
          </a:prstGeom>
          <a:solidFill>
            <a:srgbClr val="F1F4F8"/>
          </a:solidFill>
          <a:ln/>
        </p:spPr>
      </p:sp>
      <p:sp>
        <p:nvSpPr>
          <p:cNvPr id="8" name="Shape 6"/>
          <p:cNvSpPr/>
          <p:nvPr/>
        </p:nvSpPr>
        <p:spPr>
          <a:xfrm>
            <a:off x="5989320" y="1792224"/>
            <a:ext cx="384048" cy="384048"/>
          </a:xfrm>
          <a:prstGeom prst="ellipse">
            <a:avLst/>
          </a:prstGeom>
          <a:solidFill>
            <a:srgbClr val="FFB627"/>
          </a:solidFill>
          <a:ln/>
        </p:spPr>
      </p:sp>
      <p:sp>
        <p:nvSpPr>
          <p:cNvPr id="9" name="Text 7"/>
          <p:cNvSpPr/>
          <p:nvPr/>
        </p:nvSpPr>
        <p:spPr>
          <a:xfrm>
            <a:off x="5989320" y="17922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483096" y="1828800"/>
            <a:ext cx="201168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Run from inside</a:t>
            </a:r>
            <a:endParaRPr lang="en-US" sz="1300" dirty="0"/>
          </a:p>
        </p:txBody>
      </p:sp>
      <p:sp>
        <p:nvSpPr>
          <p:cNvPr id="11" name="Text 9"/>
          <p:cNvSpPr/>
          <p:nvPr/>
        </p:nvSpPr>
        <p:spPr>
          <a:xfrm>
            <a:off x="5989320" y="2267712"/>
            <a:ext cx="2468880" cy="256032"/>
          </a:xfrm>
          <a:prstGeom prst="rect">
            <a:avLst/>
          </a:prstGeom>
          <a:noFill/>
          <a:ln/>
        </p:spPr>
        <p:txBody>
          <a:bodyPr wrap="square" lIns="0" tIns="0" rIns="0" bIns="0" rtlCol="0" anchor="ctr"/>
          <a:lstStyle/>
          <a:p>
            <a:pPr indent="0" marL="0">
              <a:buNone/>
            </a:pPr>
            <a:r>
              <a:rPr lang="en-US" sz="1200" dirty="0">
                <a:solidFill>
                  <a:srgbClr val="065A82"/>
                </a:solidFill>
                <a:latin typeface="Courier New" pitchFamily="34" charset="0"/>
                <a:ea typeface="Courier New" pitchFamily="34" charset="-122"/>
                <a:cs typeface="Courier New" pitchFamily="34" charset="-120"/>
              </a:rPr>
              <a:t>paper/simulation</a:t>
            </a:r>
            <a:endParaRPr lang="en-US" sz="1200" dirty="0"/>
          </a:p>
        </p:txBody>
      </p:sp>
      <p:sp>
        <p:nvSpPr>
          <p:cNvPr id="12" name="Text 10"/>
          <p:cNvSpPr/>
          <p:nvPr/>
        </p:nvSpPr>
        <p:spPr>
          <a:xfrm>
            <a:off x="5989320" y="2578608"/>
            <a:ext cx="2468880" cy="640080"/>
          </a:xfrm>
          <a:prstGeom prst="rect">
            <a:avLst/>
          </a:prstGeom>
          <a:noFill/>
          <a:ln/>
        </p:spPr>
        <p:txBody>
          <a:bodyPr wrap="square" lIns="0" tIns="0" rIns="0" bIns="0" rtlCol="0" anchor="ctr"/>
          <a:lstStyle/>
          <a:p>
            <a:pPr indent="0" marL="0">
              <a:lnSpc>
                <a:spcPts val="1500"/>
              </a:lnSpc>
              <a:buNone/>
            </a:pPr>
            <a:r>
              <a:rPr lang="en-US" sz="1150" dirty="0">
                <a:solidFill>
                  <a:srgbClr val="3D4451"/>
                </a:solidFill>
                <a:latin typeface="Calibri" pitchFamily="34" charset="0"/>
                <a:ea typeface="Calibri" pitchFamily="34" charset="-122"/>
                <a:cs typeface="Calibri" pitchFamily="34" charset="-120"/>
              </a:rPr>
              <a:t>Two scripts import sim_reflex, so a different working directory breaks the import.</a:t>
            </a:r>
            <a:endParaRPr lang="en-US" sz="1150" dirty="0"/>
          </a:p>
        </p:txBody>
      </p:sp>
      <p:sp>
        <p:nvSpPr>
          <p:cNvPr id="13" name="Text 11"/>
          <p:cNvSpPr/>
          <p:nvPr/>
        </p:nvSpPr>
        <p:spPr>
          <a:xfrm>
            <a:off x="502920" y="3611880"/>
            <a:ext cx="8138160" cy="457200"/>
          </a:xfrm>
          <a:prstGeom prst="rect">
            <a:avLst/>
          </a:prstGeom>
          <a:noFill/>
          <a:ln/>
        </p:spPr>
        <p:txBody>
          <a:bodyPr wrap="square" lIns="0" tIns="0" rIns="0" bIns="0" rtlCol="0" anchor="ctr"/>
          <a:lstStyle/>
          <a:p>
            <a:pPr indent="0" marL="0">
              <a:buNone/>
            </a:pPr>
            <a:r>
              <a:rPr lang="en-US" sz="1300" i="1" dirty="0">
                <a:solidFill>
                  <a:srgbClr val="7A8290"/>
                </a:solidFill>
                <a:latin typeface="Calibri" pitchFamily="34" charset="0"/>
                <a:ea typeface="Calibri" pitchFamily="34" charset="-122"/>
                <a:cs typeface="Calibri" pitchFamily="34" charset="-120"/>
              </a:rPr>
              <a:t>No API keys, no Android device, and no network access are needed. The simulation is pure geometry and arithmetic.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STEP TWO</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Run the three scripts</a:t>
            </a:r>
            <a:endParaRPr lang="en-US" sz="3000" dirty="0"/>
          </a:p>
        </p:txBody>
      </p:sp>
      <p:sp>
        <p:nvSpPr>
          <p:cNvPr id="4" name="Shape 2"/>
          <p:cNvSpPr/>
          <p:nvPr/>
        </p:nvSpPr>
        <p:spPr>
          <a:xfrm>
            <a:off x="502920" y="1225296"/>
            <a:ext cx="8138160" cy="859536"/>
          </a:xfrm>
          <a:prstGeom prst="roundRect">
            <a:avLst>
              <a:gd name="adj" fmla="val 5319"/>
            </a:avLst>
          </a:prstGeom>
          <a:solidFill>
            <a:srgbClr val="F1F4F8"/>
          </a:solidFill>
          <a:ln/>
        </p:spPr>
      </p:sp>
      <p:sp>
        <p:nvSpPr>
          <p:cNvPr id="5" name="Shape 3"/>
          <p:cNvSpPr/>
          <p:nvPr/>
        </p:nvSpPr>
        <p:spPr>
          <a:xfrm>
            <a:off x="685800" y="1463040"/>
            <a:ext cx="384048" cy="384048"/>
          </a:xfrm>
          <a:prstGeom prst="ellipse">
            <a:avLst/>
          </a:prstGeom>
          <a:solidFill>
            <a:srgbClr val="065A82"/>
          </a:solidFill>
          <a:ln/>
        </p:spPr>
      </p:sp>
      <p:sp>
        <p:nvSpPr>
          <p:cNvPr id="6" name="Text 4"/>
          <p:cNvSpPr/>
          <p:nvPr/>
        </p:nvSpPr>
        <p:spPr>
          <a:xfrm>
            <a:off x="685800" y="1463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07008" y="1353312"/>
            <a:ext cx="2103120" cy="274320"/>
          </a:xfrm>
          <a:prstGeom prst="rect">
            <a:avLst/>
          </a:prstGeom>
          <a:noFill/>
          <a:ln/>
        </p:spPr>
        <p:txBody>
          <a:bodyPr wrap="square" lIns="0" tIns="0" rIns="0" bIns="0" rtlCol="0" anchor="ctr"/>
          <a:lstStyle/>
          <a:p>
            <a:pPr indent="0" marL="0">
              <a:buNone/>
            </a:pPr>
            <a:r>
              <a:rPr lang="en-US" sz="1350" b="1" dirty="0">
                <a:solidFill>
                  <a:srgbClr val="1A1A1A"/>
                </a:solidFill>
                <a:latin typeface="Courier New" pitchFamily="34" charset="0"/>
                <a:ea typeface="Courier New" pitchFamily="34" charset="-122"/>
                <a:cs typeface="Courier New" pitchFamily="34" charset="-120"/>
              </a:rPr>
              <a:t>sim_reflex.py</a:t>
            </a:r>
            <a:endParaRPr lang="en-US" sz="1350" dirty="0"/>
          </a:p>
        </p:txBody>
      </p:sp>
      <p:sp>
        <p:nvSpPr>
          <p:cNvPr id="8" name="Text 6"/>
          <p:cNvSpPr/>
          <p:nvPr/>
        </p:nvSpPr>
        <p:spPr>
          <a:xfrm>
            <a:off x="1207008" y="1664208"/>
            <a:ext cx="4206240" cy="310896"/>
          </a:xfrm>
          <a:prstGeom prst="rect">
            <a:avLst/>
          </a:prstGeom>
          <a:noFill/>
          <a:ln/>
        </p:spPr>
        <p:txBody>
          <a:bodyPr wrap="square" lIns="0" tIns="0" rIns="0" bIns="0" rtlCol="0" anchor="ctr"/>
          <a:lstStyle/>
          <a:p>
            <a:pPr indent="0" marL="0">
              <a:buNone/>
            </a:pPr>
            <a:r>
              <a:rPr lang="en-US" sz="1200" dirty="0">
                <a:solidFill>
                  <a:srgbClr val="3D4451"/>
                </a:solidFill>
                <a:latin typeface="Calibri" pitchFamily="34" charset="0"/>
                <a:ea typeface="Calibri" pitchFamily="34" charset="-122"/>
                <a:cs typeface="Calibri" pitchFamily="34" charset="-120"/>
              </a:rPr>
              <a:t>Ported rules plus 6 figures</a:t>
            </a:r>
            <a:endParaRPr lang="en-US" sz="1200" dirty="0"/>
          </a:p>
        </p:txBody>
      </p:sp>
      <p:sp>
        <p:nvSpPr>
          <p:cNvPr id="9" name="Shape 7"/>
          <p:cNvSpPr/>
          <p:nvPr/>
        </p:nvSpPr>
        <p:spPr>
          <a:xfrm>
            <a:off x="3401568" y="1344168"/>
            <a:ext cx="566928" cy="274320"/>
          </a:xfrm>
          <a:prstGeom prst="roundRect">
            <a:avLst>
              <a:gd name="adj" fmla="val 16667"/>
            </a:avLst>
          </a:prstGeom>
          <a:solidFill>
            <a:srgbClr val="FFB627"/>
          </a:solidFill>
          <a:ln/>
        </p:spPr>
      </p:sp>
      <p:sp>
        <p:nvSpPr>
          <p:cNvPr id="10" name="Text 8"/>
          <p:cNvSpPr/>
          <p:nvPr/>
        </p:nvSpPr>
        <p:spPr>
          <a:xfrm>
            <a:off x="3401568" y="1344168"/>
            <a:ext cx="566928" cy="27432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2 s</a:t>
            </a:r>
            <a:endParaRPr lang="en-US" sz="1100" dirty="0"/>
          </a:p>
        </p:txBody>
      </p:sp>
      <p:sp>
        <p:nvSpPr>
          <p:cNvPr id="11" name="Text 9"/>
          <p:cNvSpPr/>
          <p:nvPr/>
        </p:nvSpPr>
        <p:spPr>
          <a:xfrm>
            <a:off x="5577840" y="1517904"/>
            <a:ext cx="2880360" cy="365760"/>
          </a:xfrm>
          <a:prstGeom prst="rect">
            <a:avLst/>
          </a:prstGeom>
          <a:noFill/>
          <a:ln/>
        </p:spPr>
        <p:txBody>
          <a:bodyPr wrap="square" lIns="0" tIns="0" rIns="0" bIns="0" rtlCol="0" anchor="ctr"/>
          <a:lstStyle/>
          <a:p>
            <a:pPr indent="0" marL="0">
              <a:buNone/>
            </a:pPr>
            <a:r>
              <a:rPr lang="en-US" sz="1050" dirty="0">
                <a:solidFill>
                  <a:srgbClr val="1C7293"/>
                </a:solidFill>
                <a:latin typeface="Courier New" pitchFamily="34" charset="0"/>
                <a:ea typeface="Courier New" pitchFamily="34" charset="-122"/>
                <a:cs typeface="Courier New" pitchFamily="34" charset="-120"/>
              </a:rPr>
              <a:t>fig1 to fig6, sim_results.json</a:t>
            </a:r>
            <a:endParaRPr lang="en-US" sz="1050" dirty="0"/>
          </a:p>
        </p:txBody>
      </p:sp>
      <p:sp>
        <p:nvSpPr>
          <p:cNvPr id="12" name="Shape 10"/>
          <p:cNvSpPr/>
          <p:nvPr/>
        </p:nvSpPr>
        <p:spPr>
          <a:xfrm>
            <a:off x="502920" y="2194560"/>
            <a:ext cx="8138160" cy="859536"/>
          </a:xfrm>
          <a:prstGeom prst="roundRect">
            <a:avLst>
              <a:gd name="adj" fmla="val 5319"/>
            </a:avLst>
          </a:prstGeom>
          <a:solidFill>
            <a:srgbClr val="F1F4F8"/>
          </a:solidFill>
          <a:ln/>
        </p:spPr>
      </p:sp>
      <p:sp>
        <p:nvSpPr>
          <p:cNvPr id="13" name="Shape 11"/>
          <p:cNvSpPr/>
          <p:nvPr/>
        </p:nvSpPr>
        <p:spPr>
          <a:xfrm>
            <a:off x="685800" y="2432304"/>
            <a:ext cx="384048" cy="384048"/>
          </a:xfrm>
          <a:prstGeom prst="ellipse">
            <a:avLst/>
          </a:prstGeom>
          <a:solidFill>
            <a:srgbClr val="065A82"/>
          </a:solidFill>
          <a:ln/>
        </p:spPr>
      </p:sp>
      <p:sp>
        <p:nvSpPr>
          <p:cNvPr id="14" name="Text 12"/>
          <p:cNvSpPr/>
          <p:nvPr/>
        </p:nvSpPr>
        <p:spPr>
          <a:xfrm>
            <a:off x="685800" y="24323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207008" y="2322576"/>
            <a:ext cx="2103120" cy="274320"/>
          </a:xfrm>
          <a:prstGeom prst="rect">
            <a:avLst/>
          </a:prstGeom>
          <a:noFill/>
          <a:ln/>
        </p:spPr>
        <p:txBody>
          <a:bodyPr wrap="square" lIns="0" tIns="0" rIns="0" bIns="0" rtlCol="0" anchor="ctr"/>
          <a:lstStyle/>
          <a:p>
            <a:pPr indent="0" marL="0">
              <a:buNone/>
            </a:pPr>
            <a:r>
              <a:rPr lang="en-US" sz="1350" b="1" dirty="0">
                <a:solidFill>
                  <a:srgbClr val="1A1A1A"/>
                </a:solidFill>
                <a:latin typeface="Courier New" pitchFamily="34" charset="0"/>
                <a:ea typeface="Courier New" pitchFamily="34" charset="-122"/>
                <a:cs typeface="Courier New" pitchFamily="34" charset="-120"/>
              </a:rPr>
              <a:t>sim_extra.py</a:t>
            </a:r>
            <a:endParaRPr lang="en-US" sz="1350" dirty="0"/>
          </a:p>
        </p:txBody>
      </p:sp>
      <p:sp>
        <p:nvSpPr>
          <p:cNvPr id="16" name="Text 14"/>
          <p:cNvSpPr/>
          <p:nvPr/>
        </p:nvSpPr>
        <p:spPr>
          <a:xfrm>
            <a:off x="1207008" y="2633472"/>
            <a:ext cx="4206240" cy="310896"/>
          </a:xfrm>
          <a:prstGeom prst="rect">
            <a:avLst/>
          </a:prstGeom>
          <a:noFill/>
          <a:ln/>
        </p:spPr>
        <p:txBody>
          <a:bodyPr wrap="square" lIns="0" tIns="0" rIns="0" bIns="0" rtlCol="0" anchor="ctr"/>
          <a:lstStyle/>
          <a:p>
            <a:pPr indent="0" marL="0">
              <a:buNone/>
            </a:pPr>
            <a:r>
              <a:rPr lang="en-US" sz="1200" dirty="0">
                <a:solidFill>
                  <a:srgbClr val="3D4451"/>
                </a:solidFill>
                <a:latin typeface="Calibri" pitchFamily="34" charset="0"/>
                <a:ea typeface="Calibri" pitchFamily="34" charset="-122"/>
                <a:cs typeface="Calibri" pitchFamily="34" charset="-120"/>
              </a:rPr>
              <a:t>Envelope, speed, sweeps, flicker, hints, cadence</a:t>
            </a:r>
            <a:endParaRPr lang="en-US" sz="1200" dirty="0"/>
          </a:p>
        </p:txBody>
      </p:sp>
      <p:sp>
        <p:nvSpPr>
          <p:cNvPr id="17" name="Shape 15"/>
          <p:cNvSpPr/>
          <p:nvPr/>
        </p:nvSpPr>
        <p:spPr>
          <a:xfrm>
            <a:off x="3401568" y="2313432"/>
            <a:ext cx="566928" cy="274320"/>
          </a:xfrm>
          <a:prstGeom prst="roundRect">
            <a:avLst>
              <a:gd name="adj" fmla="val 16667"/>
            </a:avLst>
          </a:prstGeom>
          <a:solidFill>
            <a:srgbClr val="FFB627"/>
          </a:solidFill>
          <a:ln/>
        </p:spPr>
      </p:sp>
      <p:sp>
        <p:nvSpPr>
          <p:cNvPr id="18" name="Text 16"/>
          <p:cNvSpPr/>
          <p:nvPr/>
        </p:nvSpPr>
        <p:spPr>
          <a:xfrm>
            <a:off x="3401568" y="2313432"/>
            <a:ext cx="566928" cy="27432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5 s</a:t>
            </a:r>
            <a:endParaRPr lang="en-US" sz="1100" dirty="0"/>
          </a:p>
        </p:txBody>
      </p:sp>
      <p:sp>
        <p:nvSpPr>
          <p:cNvPr id="19" name="Text 17"/>
          <p:cNvSpPr/>
          <p:nvPr/>
        </p:nvSpPr>
        <p:spPr>
          <a:xfrm>
            <a:off x="5577840" y="2487168"/>
            <a:ext cx="2880360" cy="365760"/>
          </a:xfrm>
          <a:prstGeom prst="rect">
            <a:avLst/>
          </a:prstGeom>
          <a:noFill/>
          <a:ln/>
        </p:spPr>
        <p:txBody>
          <a:bodyPr wrap="square" lIns="0" tIns="0" rIns="0" bIns="0" rtlCol="0" anchor="ctr"/>
          <a:lstStyle/>
          <a:p>
            <a:pPr indent="0" marL="0">
              <a:buNone/>
            </a:pPr>
            <a:r>
              <a:rPr lang="en-US" sz="1050" dirty="0">
                <a:solidFill>
                  <a:srgbClr val="1C7293"/>
                </a:solidFill>
                <a:latin typeface="Courier New" pitchFamily="34" charset="0"/>
                <a:ea typeface="Courier New" pitchFamily="34" charset="-122"/>
                <a:cs typeface="Courier New" pitchFamily="34" charset="-120"/>
              </a:rPr>
              <a:t>6 figures, sim_extra_results.json</a:t>
            </a:r>
            <a:endParaRPr lang="en-US" sz="1050" dirty="0"/>
          </a:p>
        </p:txBody>
      </p:sp>
      <p:sp>
        <p:nvSpPr>
          <p:cNvPr id="20" name="Shape 18"/>
          <p:cNvSpPr/>
          <p:nvPr/>
        </p:nvSpPr>
        <p:spPr>
          <a:xfrm>
            <a:off x="502920" y="3163824"/>
            <a:ext cx="8138160" cy="859536"/>
          </a:xfrm>
          <a:prstGeom prst="roundRect">
            <a:avLst>
              <a:gd name="adj" fmla="val 5319"/>
            </a:avLst>
          </a:prstGeom>
          <a:solidFill>
            <a:srgbClr val="F1F4F8"/>
          </a:solidFill>
          <a:ln/>
        </p:spPr>
      </p:sp>
      <p:sp>
        <p:nvSpPr>
          <p:cNvPr id="21" name="Shape 19"/>
          <p:cNvSpPr/>
          <p:nvPr/>
        </p:nvSpPr>
        <p:spPr>
          <a:xfrm>
            <a:off x="685800" y="3401568"/>
            <a:ext cx="384048" cy="384048"/>
          </a:xfrm>
          <a:prstGeom prst="ellipse">
            <a:avLst/>
          </a:prstGeom>
          <a:solidFill>
            <a:srgbClr val="1C7293"/>
          </a:solidFill>
          <a:ln/>
        </p:spPr>
      </p:sp>
      <p:sp>
        <p:nvSpPr>
          <p:cNvPr id="22" name="Text 20"/>
          <p:cNvSpPr/>
          <p:nvPr/>
        </p:nvSpPr>
        <p:spPr>
          <a:xfrm>
            <a:off x="685800"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1207008" y="3291840"/>
            <a:ext cx="2103120" cy="274320"/>
          </a:xfrm>
          <a:prstGeom prst="rect">
            <a:avLst/>
          </a:prstGeom>
          <a:noFill/>
          <a:ln/>
        </p:spPr>
        <p:txBody>
          <a:bodyPr wrap="square" lIns="0" tIns="0" rIns="0" bIns="0" rtlCol="0" anchor="ctr"/>
          <a:lstStyle/>
          <a:p>
            <a:pPr indent="0" marL="0">
              <a:buNone/>
            </a:pPr>
            <a:r>
              <a:rPr lang="en-US" sz="1350" b="1" dirty="0">
                <a:solidFill>
                  <a:srgbClr val="1A1A1A"/>
                </a:solidFill>
                <a:latin typeface="Courier New" pitchFamily="34" charset="0"/>
                <a:ea typeface="Courier New" pitchFamily="34" charset="-122"/>
                <a:cs typeface="Courier New" pitchFamily="34" charset="-120"/>
              </a:rPr>
              <a:t>sim_baselines.py</a:t>
            </a:r>
            <a:endParaRPr lang="en-US" sz="1350" dirty="0"/>
          </a:p>
        </p:txBody>
      </p:sp>
      <p:sp>
        <p:nvSpPr>
          <p:cNvPr id="24" name="Text 22"/>
          <p:cNvSpPr/>
          <p:nvPr/>
        </p:nvSpPr>
        <p:spPr>
          <a:xfrm>
            <a:off x="1207008" y="3602736"/>
            <a:ext cx="4206240" cy="310896"/>
          </a:xfrm>
          <a:prstGeom prst="rect">
            <a:avLst/>
          </a:prstGeom>
          <a:noFill/>
          <a:ln/>
        </p:spPr>
        <p:txBody>
          <a:bodyPr wrap="square" lIns="0" tIns="0" rIns="0" bIns="0" rtlCol="0" anchor="ctr"/>
          <a:lstStyle/>
          <a:p>
            <a:pPr indent="0" marL="0">
              <a:buNone/>
            </a:pPr>
            <a:r>
              <a:rPr lang="en-US" sz="1200" dirty="0">
                <a:solidFill>
                  <a:srgbClr val="3D4451"/>
                </a:solidFill>
                <a:latin typeface="Calibri" pitchFamily="34" charset="0"/>
                <a:ea typeface="Calibri" pitchFamily="34" charset="-122"/>
                <a:cs typeface="Calibri" pitchFamily="34" charset="-120"/>
              </a:rPr>
              <a:t>Five rule comparison for Figure 3</a:t>
            </a:r>
            <a:endParaRPr lang="en-US" sz="1200" dirty="0"/>
          </a:p>
        </p:txBody>
      </p:sp>
      <p:sp>
        <p:nvSpPr>
          <p:cNvPr id="25" name="Shape 23"/>
          <p:cNvSpPr/>
          <p:nvPr/>
        </p:nvSpPr>
        <p:spPr>
          <a:xfrm>
            <a:off x="3401568" y="3282696"/>
            <a:ext cx="566928" cy="274320"/>
          </a:xfrm>
          <a:prstGeom prst="roundRect">
            <a:avLst>
              <a:gd name="adj" fmla="val 16667"/>
            </a:avLst>
          </a:prstGeom>
          <a:solidFill>
            <a:srgbClr val="FFB627"/>
          </a:solidFill>
          <a:ln/>
        </p:spPr>
      </p:sp>
      <p:sp>
        <p:nvSpPr>
          <p:cNvPr id="26" name="Text 24"/>
          <p:cNvSpPr/>
          <p:nvPr/>
        </p:nvSpPr>
        <p:spPr>
          <a:xfrm>
            <a:off x="3401568" y="3282696"/>
            <a:ext cx="566928" cy="27432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2 s</a:t>
            </a:r>
            <a:endParaRPr lang="en-US" sz="1100" dirty="0"/>
          </a:p>
        </p:txBody>
      </p:sp>
      <p:sp>
        <p:nvSpPr>
          <p:cNvPr id="27" name="Text 25"/>
          <p:cNvSpPr/>
          <p:nvPr/>
        </p:nvSpPr>
        <p:spPr>
          <a:xfrm>
            <a:off x="5577840" y="3456432"/>
            <a:ext cx="2880360" cy="365760"/>
          </a:xfrm>
          <a:prstGeom prst="rect">
            <a:avLst/>
          </a:prstGeom>
          <a:noFill/>
          <a:ln/>
        </p:spPr>
        <p:txBody>
          <a:bodyPr wrap="square" lIns="0" tIns="0" rIns="0" bIns="0" rtlCol="0" anchor="ctr"/>
          <a:lstStyle/>
          <a:p>
            <a:pPr indent="0" marL="0">
              <a:buNone/>
            </a:pPr>
            <a:r>
              <a:rPr lang="en-US" sz="1050" dirty="0">
                <a:solidFill>
                  <a:srgbClr val="1C7293"/>
                </a:solidFill>
                <a:latin typeface="Courier New" pitchFamily="34" charset="0"/>
                <a:ea typeface="Courier New" pitchFamily="34" charset="-122"/>
                <a:cs typeface="Courier New" pitchFamily="34" charset="-120"/>
              </a:rPr>
              <a:t>fig_baselines, sim_baseline_results.json</a:t>
            </a:r>
            <a:endParaRPr lang="en-US" sz="1050" dirty="0"/>
          </a:p>
        </p:txBody>
      </p:sp>
      <p:sp>
        <p:nvSpPr>
          <p:cNvPr id="28" name="Shape 26"/>
          <p:cNvSpPr/>
          <p:nvPr/>
        </p:nvSpPr>
        <p:spPr>
          <a:xfrm>
            <a:off x="502920" y="4224528"/>
            <a:ext cx="8138160" cy="475488"/>
          </a:xfrm>
          <a:prstGeom prst="roundRect">
            <a:avLst>
              <a:gd name="adj" fmla="val 11538"/>
            </a:avLst>
          </a:prstGeom>
          <a:solidFill>
            <a:srgbClr val="21295C"/>
          </a:solidFill>
          <a:ln/>
        </p:spPr>
      </p:sp>
      <p:sp>
        <p:nvSpPr>
          <p:cNvPr id="29" name="Text 27"/>
          <p:cNvSpPr/>
          <p:nvPr/>
        </p:nvSpPr>
        <p:spPr>
          <a:xfrm>
            <a:off x="667512" y="4334256"/>
            <a:ext cx="7808976" cy="256032"/>
          </a:xfrm>
          <a:prstGeom prst="rect">
            <a:avLst/>
          </a:prstGeom>
          <a:noFill/>
          <a:ln/>
        </p:spPr>
        <p:txBody>
          <a:bodyPr wrap="square" lIns="0" tIns="0" rIns="0" bIns="0" rtlCol="0" anchor="ctr"/>
          <a:lstStyle/>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python3 sim_reflex.py &amp;&amp; python3 sim_extra.py &amp;&amp; python3 sim_baselines.py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8046720" cy="219456"/>
          </a:xfrm>
          <a:prstGeom prst="rect">
            <a:avLst/>
          </a:prstGeom>
          <a:noFill/>
          <a:ln/>
        </p:spPr>
        <p:txBody>
          <a:bodyPr wrap="square" lIns="0" tIns="0" rIns="0" bIns="0" rtlCol="0" anchor="ctr"/>
          <a:lstStyle/>
          <a:p>
            <a:pPr indent="0" marL="0">
              <a:buNone/>
            </a:pPr>
            <a:r>
              <a:rPr lang="en-US" sz="1100" b="1" spc="160" kern="0" dirty="0">
                <a:solidFill>
                  <a:srgbClr val="FFB627"/>
                </a:solidFill>
                <a:latin typeface="Calibri" pitchFamily="34" charset="0"/>
                <a:ea typeface="Calibri" pitchFamily="34" charset="-122"/>
                <a:cs typeface="Calibri" pitchFamily="34" charset="-120"/>
              </a:rPr>
              <a:t>VERIFY</a:t>
            </a:r>
            <a:endParaRPr lang="en-US" sz="1100" dirty="0"/>
          </a:p>
        </p:txBody>
      </p:sp>
      <p:sp>
        <p:nvSpPr>
          <p:cNvPr id="3" name="Text 1"/>
          <p:cNvSpPr/>
          <p:nvPr/>
        </p:nvSpPr>
        <p:spPr>
          <a:xfrm>
            <a:off x="548640" y="640080"/>
            <a:ext cx="8046720" cy="5486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Every seed is fixed, so replication is exact</a:t>
            </a:r>
            <a:endParaRPr lang="en-US" sz="2900" dirty="0"/>
          </a:p>
        </p:txBody>
      </p:sp>
      <p:sp>
        <p:nvSpPr>
          <p:cNvPr id="4" name="Shape 2"/>
          <p:cNvSpPr/>
          <p:nvPr/>
        </p:nvSpPr>
        <p:spPr>
          <a:xfrm>
            <a:off x="548640" y="1371600"/>
            <a:ext cx="2624328" cy="1170432"/>
          </a:xfrm>
          <a:prstGeom prst="roundRect">
            <a:avLst>
              <a:gd name="adj" fmla="val 4688"/>
            </a:avLst>
          </a:prstGeom>
          <a:solidFill>
            <a:srgbClr val="2E3B75"/>
          </a:solidFill>
          <a:ln/>
        </p:spPr>
      </p:sp>
      <p:sp>
        <p:nvSpPr>
          <p:cNvPr id="5" name="Text 3"/>
          <p:cNvSpPr/>
          <p:nvPr/>
        </p:nvSpPr>
        <p:spPr>
          <a:xfrm>
            <a:off x="694944" y="1517904"/>
            <a:ext cx="2331720" cy="54864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13 of 13</a:t>
            </a:r>
            <a:endParaRPr lang="en-US" sz="3000" dirty="0"/>
          </a:p>
        </p:txBody>
      </p:sp>
      <p:sp>
        <p:nvSpPr>
          <p:cNvPr id="6" name="Text 4"/>
          <p:cNvSpPr/>
          <p:nvPr/>
        </p:nvSpPr>
        <p:spPr>
          <a:xfrm>
            <a:off x="694944" y="2066544"/>
            <a:ext cx="2331720" cy="310896"/>
          </a:xfrm>
          <a:prstGeom prst="rect">
            <a:avLst/>
          </a:prstGeom>
          <a:noFill/>
          <a:ln/>
        </p:spPr>
        <p:txBody>
          <a:bodyPr wrap="square" lIns="0" tIns="0" rIns="0" bIns="0" rtlCol="0" anchor="ctr"/>
          <a:lstStyle/>
          <a:p>
            <a:pPr algn="ctr" indent="0" marL="0">
              <a:buNone/>
            </a:pPr>
            <a:r>
              <a:rPr lang="en-US" sz="1200" dirty="0">
                <a:solidFill>
                  <a:srgbClr val="C7D6E4"/>
                </a:solidFill>
                <a:latin typeface="Calibri" pitchFamily="34" charset="0"/>
                <a:ea typeface="Calibri" pitchFamily="34" charset="-122"/>
                <a:cs typeface="Calibri" pitchFamily="34" charset="-120"/>
              </a:rPr>
              <a:t>figures byte-identical</a:t>
            </a:r>
            <a:endParaRPr lang="en-US" sz="1200" dirty="0"/>
          </a:p>
        </p:txBody>
      </p:sp>
      <p:sp>
        <p:nvSpPr>
          <p:cNvPr id="7" name="Shape 5"/>
          <p:cNvSpPr/>
          <p:nvPr/>
        </p:nvSpPr>
        <p:spPr>
          <a:xfrm>
            <a:off x="3319272" y="1371600"/>
            <a:ext cx="2624328" cy="1170432"/>
          </a:xfrm>
          <a:prstGeom prst="roundRect">
            <a:avLst>
              <a:gd name="adj" fmla="val 4688"/>
            </a:avLst>
          </a:prstGeom>
          <a:solidFill>
            <a:srgbClr val="2E3B75"/>
          </a:solidFill>
          <a:ln/>
        </p:spPr>
      </p:sp>
      <p:sp>
        <p:nvSpPr>
          <p:cNvPr id="8" name="Text 6"/>
          <p:cNvSpPr/>
          <p:nvPr/>
        </p:nvSpPr>
        <p:spPr>
          <a:xfrm>
            <a:off x="3465576" y="1517904"/>
            <a:ext cx="2331720" cy="54864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3 of 3</a:t>
            </a:r>
            <a:endParaRPr lang="en-US" sz="3000" dirty="0"/>
          </a:p>
        </p:txBody>
      </p:sp>
      <p:sp>
        <p:nvSpPr>
          <p:cNvPr id="9" name="Text 7"/>
          <p:cNvSpPr/>
          <p:nvPr/>
        </p:nvSpPr>
        <p:spPr>
          <a:xfrm>
            <a:off x="3465576" y="2066544"/>
            <a:ext cx="2331720" cy="310896"/>
          </a:xfrm>
          <a:prstGeom prst="rect">
            <a:avLst/>
          </a:prstGeom>
          <a:noFill/>
          <a:ln/>
        </p:spPr>
        <p:txBody>
          <a:bodyPr wrap="square" lIns="0" tIns="0" rIns="0" bIns="0" rtlCol="0" anchor="ctr"/>
          <a:lstStyle/>
          <a:p>
            <a:pPr algn="ctr" indent="0" marL="0">
              <a:buNone/>
            </a:pPr>
            <a:r>
              <a:rPr lang="en-US" sz="1200" dirty="0">
                <a:solidFill>
                  <a:srgbClr val="C7D6E4"/>
                </a:solidFill>
                <a:latin typeface="Calibri" pitchFamily="34" charset="0"/>
                <a:ea typeface="Calibri" pitchFamily="34" charset="-122"/>
                <a:cs typeface="Calibri" pitchFamily="34" charset="-120"/>
              </a:rPr>
              <a:t>result files identical</a:t>
            </a:r>
            <a:endParaRPr lang="en-US" sz="1200" dirty="0"/>
          </a:p>
        </p:txBody>
      </p:sp>
      <p:sp>
        <p:nvSpPr>
          <p:cNvPr id="10" name="Shape 8"/>
          <p:cNvSpPr/>
          <p:nvPr/>
        </p:nvSpPr>
        <p:spPr>
          <a:xfrm>
            <a:off x="6089904" y="1371600"/>
            <a:ext cx="2624328" cy="1170432"/>
          </a:xfrm>
          <a:prstGeom prst="roundRect">
            <a:avLst>
              <a:gd name="adj" fmla="val 4688"/>
            </a:avLst>
          </a:prstGeom>
          <a:solidFill>
            <a:srgbClr val="2E3B75"/>
          </a:solidFill>
          <a:ln/>
        </p:spPr>
      </p:sp>
      <p:sp>
        <p:nvSpPr>
          <p:cNvPr id="11" name="Text 9"/>
          <p:cNvSpPr/>
          <p:nvPr/>
        </p:nvSpPr>
        <p:spPr>
          <a:xfrm>
            <a:off x="6236208" y="1517904"/>
            <a:ext cx="2331720" cy="54864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under 10 s</a:t>
            </a:r>
            <a:endParaRPr lang="en-US" sz="3000" dirty="0"/>
          </a:p>
        </p:txBody>
      </p:sp>
      <p:sp>
        <p:nvSpPr>
          <p:cNvPr id="12" name="Text 10"/>
          <p:cNvSpPr/>
          <p:nvPr/>
        </p:nvSpPr>
        <p:spPr>
          <a:xfrm>
            <a:off x="6236208" y="2066544"/>
            <a:ext cx="2331720" cy="310896"/>
          </a:xfrm>
          <a:prstGeom prst="rect">
            <a:avLst/>
          </a:prstGeom>
          <a:noFill/>
          <a:ln/>
        </p:spPr>
        <p:txBody>
          <a:bodyPr wrap="square" lIns="0" tIns="0" rIns="0" bIns="0" rtlCol="0" anchor="ctr"/>
          <a:lstStyle/>
          <a:p>
            <a:pPr algn="ctr" indent="0" marL="0">
              <a:buNone/>
            </a:pPr>
            <a:r>
              <a:rPr lang="en-US" sz="1200" dirty="0">
                <a:solidFill>
                  <a:srgbClr val="C7D6E4"/>
                </a:solidFill>
                <a:latin typeface="Calibri" pitchFamily="34" charset="0"/>
                <a:ea typeface="Calibri" pitchFamily="34" charset="-122"/>
                <a:cs typeface="Calibri" pitchFamily="34" charset="-120"/>
              </a:rPr>
              <a:t>for the full rebuild</a:t>
            </a:r>
            <a:endParaRPr lang="en-US" sz="1200" dirty="0"/>
          </a:p>
        </p:txBody>
      </p:sp>
      <p:sp>
        <p:nvSpPr>
          <p:cNvPr id="13" name="Shape 11"/>
          <p:cNvSpPr/>
          <p:nvPr/>
        </p:nvSpPr>
        <p:spPr>
          <a:xfrm>
            <a:off x="548640" y="2743200"/>
            <a:ext cx="8046720" cy="1481328"/>
          </a:xfrm>
          <a:prstGeom prst="roundRect">
            <a:avLst>
              <a:gd name="adj" fmla="val 3704"/>
            </a:avLst>
          </a:prstGeom>
          <a:solidFill>
            <a:srgbClr val="21295C"/>
          </a:solidFill>
          <a:ln/>
        </p:spPr>
      </p:sp>
      <p:sp>
        <p:nvSpPr>
          <p:cNvPr id="14" name="Text 12"/>
          <p:cNvSpPr/>
          <p:nvPr/>
        </p:nvSpPr>
        <p:spPr>
          <a:xfrm>
            <a:off x="713232" y="2852928"/>
            <a:ext cx="7717536" cy="1261872"/>
          </a:xfrm>
          <a:prstGeom prst="rect">
            <a:avLst/>
          </a:prstGeom>
          <a:noFill/>
          <a:ln/>
        </p:spPr>
        <p:txBody>
          <a:bodyPr wrap="square" lIns="0" tIns="0" rIns="0" bIns="0" rtlCol="0" anchor="ctr"/>
          <a:lstStyle/>
          <a:p>
            <a:pPr indent="0" marL="0">
              <a:lnSpc>
                <a:spcPts val="1800"/>
              </a:lnSpc>
              <a:buNone/>
            </a:pPr>
            <a:r>
              <a:rPr lang="en-US" sz="1200" dirty="0">
                <a:solidFill>
                  <a:srgbClr val="9FB3C8"/>
                </a:solidFill>
                <a:latin typeface="Courier New" pitchFamily="34" charset="0"/>
                <a:ea typeface="Courier New" pitchFamily="34" charset="-122"/>
                <a:cs typeface="Courier New" pitchFamily="34" charset="-120"/>
              </a:rPr>
              <a:t># regenerate in a scratch copy, then compare</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cp sim_*.py /tmp/repro &amp;&amp; cd /tmp/repro</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python3 sim_reflex.py &amp;&amp; python3 sim_extra.py &amp;&amp; python3 sim_baselines.py</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cmp fig_baselines.png &lt;original&gt;/fig_baselines.png   # silence means identical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MECHANISM</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happens inside one simulated frame</a:t>
            </a:r>
            <a:endParaRPr lang="en-US" sz="3000" dirty="0"/>
          </a:p>
        </p:txBody>
      </p:sp>
      <p:sp>
        <p:nvSpPr>
          <p:cNvPr id="4" name="Shape 2"/>
          <p:cNvSpPr/>
          <p:nvPr/>
        </p:nvSpPr>
        <p:spPr>
          <a:xfrm>
            <a:off x="502920" y="1243584"/>
            <a:ext cx="3950208" cy="932688"/>
          </a:xfrm>
          <a:prstGeom prst="roundRect">
            <a:avLst>
              <a:gd name="adj" fmla="val 4902"/>
            </a:avLst>
          </a:prstGeom>
          <a:solidFill>
            <a:srgbClr val="F1F4F8"/>
          </a:solidFill>
          <a:ln/>
        </p:spPr>
      </p:sp>
      <p:sp>
        <p:nvSpPr>
          <p:cNvPr id="5" name="Shape 3"/>
          <p:cNvSpPr/>
          <p:nvPr/>
        </p:nvSpPr>
        <p:spPr>
          <a:xfrm>
            <a:off x="667512" y="1517904"/>
            <a:ext cx="384048" cy="384048"/>
          </a:xfrm>
          <a:prstGeom prst="ellipse">
            <a:avLst/>
          </a:prstGeom>
          <a:solidFill>
            <a:srgbClr val="065A82"/>
          </a:solidFill>
          <a:ln/>
        </p:spPr>
      </p:sp>
      <p:sp>
        <p:nvSpPr>
          <p:cNvPr id="6" name="Text 4"/>
          <p:cNvSpPr/>
          <p:nvPr/>
        </p:nvSpPr>
        <p:spPr>
          <a:xfrm>
            <a:off x="667512" y="1517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79576" y="1371600"/>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Place</a:t>
            </a:r>
            <a:endParaRPr lang="en-US" sz="1350" dirty="0"/>
          </a:p>
        </p:txBody>
      </p:sp>
      <p:sp>
        <p:nvSpPr>
          <p:cNvPr id="8" name="Text 6"/>
          <p:cNvSpPr/>
          <p:nvPr/>
        </p:nvSpPr>
        <p:spPr>
          <a:xfrm>
            <a:off x="1179576" y="1645920"/>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Object height, width, distance, lateral offset. Camera height and pitch.</a:t>
            </a:r>
            <a:endParaRPr lang="en-US" sz="1100" dirty="0"/>
          </a:p>
        </p:txBody>
      </p:sp>
      <p:sp>
        <p:nvSpPr>
          <p:cNvPr id="9" name="Shape 7"/>
          <p:cNvSpPr/>
          <p:nvPr/>
        </p:nvSpPr>
        <p:spPr>
          <a:xfrm>
            <a:off x="4727448" y="1243584"/>
            <a:ext cx="3950208" cy="932688"/>
          </a:xfrm>
          <a:prstGeom prst="roundRect">
            <a:avLst>
              <a:gd name="adj" fmla="val 4902"/>
            </a:avLst>
          </a:prstGeom>
          <a:solidFill>
            <a:srgbClr val="F1F4F8"/>
          </a:solidFill>
          <a:ln/>
        </p:spPr>
      </p:sp>
      <p:sp>
        <p:nvSpPr>
          <p:cNvPr id="10" name="Shape 8"/>
          <p:cNvSpPr/>
          <p:nvPr/>
        </p:nvSpPr>
        <p:spPr>
          <a:xfrm>
            <a:off x="4892040" y="1517904"/>
            <a:ext cx="384048" cy="384048"/>
          </a:xfrm>
          <a:prstGeom prst="ellipse">
            <a:avLst/>
          </a:prstGeom>
          <a:solidFill>
            <a:srgbClr val="065A82"/>
          </a:solidFill>
          <a:ln/>
        </p:spPr>
      </p:sp>
      <p:sp>
        <p:nvSpPr>
          <p:cNvPr id="11" name="Text 9"/>
          <p:cNvSpPr/>
          <p:nvPr/>
        </p:nvSpPr>
        <p:spPr>
          <a:xfrm>
            <a:off x="4892040" y="1517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404104" y="1371600"/>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Project</a:t>
            </a:r>
            <a:endParaRPr lang="en-US" sz="1350" dirty="0"/>
          </a:p>
        </p:txBody>
      </p:sp>
      <p:sp>
        <p:nvSpPr>
          <p:cNvPr id="13" name="Text 11"/>
          <p:cNvSpPr/>
          <p:nvPr/>
        </p:nvSpPr>
        <p:spPr>
          <a:xfrm>
            <a:off x="5404104" y="1645920"/>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Pinhole geometry gives the box. Height fraction equals H over 1.155 times d.</a:t>
            </a:r>
            <a:endParaRPr lang="en-US" sz="1100" dirty="0"/>
          </a:p>
        </p:txBody>
      </p:sp>
      <p:sp>
        <p:nvSpPr>
          <p:cNvPr id="14" name="Shape 12"/>
          <p:cNvSpPr/>
          <p:nvPr/>
        </p:nvSpPr>
        <p:spPr>
          <a:xfrm>
            <a:off x="502920" y="2304288"/>
            <a:ext cx="3950208" cy="932688"/>
          </a:xfrm>
          <a:prstGeom prst="roundRect">
            <a:avLst>
              <a:gd name="adj" fmla="val 4902"/>
            </a:avLst>
          </a:prstGeom>
          <a:solidFill>
            <a:srgbClr val="F1F4F8"/>
          </a:solidFill>
          <a:ln/>
        </p:spPr>
      </p:sp>
      <p:sp>
        <p:nvSpPr>
          <p:cNvPr id="15" name="Shape 13"/>
          <p:cNvSpPr/>
          <p:nvPr/>
        </p:nvSpPr>
        <p:spPr>
          <a:xfrm>
            <a:off x="667512" y="2578608"/>
            <a:ext cx="384048" cy="384048"/>
          </a:xfrm>
          <a:prstGeom prst="ellipse">
            <a:avLst/>
          </a:prstGeom>
          <a:solidFill>
            <a:srgbClr val="065A82"/>
          </a:solidFill>
          <a:ln/>
        </p:spPr>
      </p:sp>
      <p:sp>
        <p:nvSpPr>
          <p:cNvPr id="16" name="Text 14"/>
          <p:cNvSpPr/>
          <p:nvPr/>
        </p:nvSpPr>
        <p:spPr>
          <a:xfrm>
            <a:off x="667512" y="25786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79576" y="2432304"/>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Perturb</a:t>
            </a:r>
            <a:endParaRPr lang="en-US" sz="1350" dirty="0"/>
          </a:p>
        </p:txBody>
      </p:sp>
      <p:sp>
        <p:nvSpPr>
          <p:cNvPr id="18" name="Text 16"/>
          <p:cNvSpPr/>
          <p:nvPr/>
        </p:nvSpPr>
        <p:spPr>
          <a:xfrm>
            <a:off x="1179576" y="2706624"/>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Ten percent noise on box size, three percent on centre position.</a:t>
            </a:r>
            <a:endParaRPr lang="en-US" sz="1100" dirty="0"/>
          </a:p>
        </p:txBody>
      </p:sp>
      <p:sp>
        <p:nvSpPr>
          <p:cNvPr id="19" name="Shape 17"/>
          <p:cNvSpPr/>
          <p:nvPr/>
        </p:nvSpPr>
        <p:spPr>
          <a:xfrm>
            <a:off x="4727448" y="2304288"/>
            <a:ext cx="3950208" cy="932688"/>
          </a:xfrm>
          <a:prstGeom prst="roundRect">
            <a:avLst>
              <a:gd name="adj" fmla="val 4902"/>
            </a:avLst>
          </a:prstGeom>
          <a:solidFill>
            <a:srgbClr val="F1F4F8"/>
          </a:solidFill>
          <a:ln/>
        </p:spPr>
      </p:sp>
      <p:sp>
        <p:nvSpPr>
          <p:cNvPr id="20" name="Shape 18"/>
          <p:cNvSpPr/>
          <p:nvPr/>
        </p:nvSpPr>
        <p:spPr>
          <a:xfrm>
            <a:off x="4892040" y="2578608"/>
            <a:ext cx="384048" cy="384048"/>
          </a:xfrm>
          <a:prstGeom prst="ellipse">
            <a:avLst/>
          </a:prstGeom>
          <a:solidFill>
            <a:srgbClr val="1C7293"/>
          </a:solidFill>
          <a:ln/>
        </p:spPr>
      </p:sp>
      <p:sp>
        <p:nvSpPr>
          <p:cNvPr id="21" name="Text 19"/>
          <p:cNvSpPr/>
          <p:nvPr/>
        </p:nvSpPr>
        <p:spPr>
          <a:xfrm>
            <a:off x="4892040" y="25786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5404104" y="2432304"/>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Decide</a:t>
            </a:r>
            <a:endParaRPr lang="en-US" sz="1350" dirty="0"/>
          </a:p>
        </p:txBody>
      </p:sp>
      <p:sp>
        <p:nvSpPr>
          <p:cNvPr id="23" name="Text 21"/>
          <p:cNvSpPr/>
          <p:nvPr/>
        </p:nvSpPr>
        <p:spPr>
          <a:xfrm>
            <a:off x="5404104" y="2706624"/>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Ported rules. Corridor gate, width rejection, size gates, looming.</a:t>
            </a:r>
            <a:endParaRPr lang="en-US" sz="1100" dirty="0"/>
          </a:p>
        </p:txBody>
      </p:sp>
      <p:sp>
        <p:nvSpPr>
          <p:cNvPr id="24" name="Shape 22"/>
          <p:cNvSpPr/>
          <p:nvPr/>
        </p:nvSpPr>
        <p:spPr>
          <a:xfrm>
            <a:off x="502920" y="3364992"/>
            <a:ext cx="3950208" cy="932688"/>
          </a:xfrm>
          <a:prstGeom prst="roundRect">
            <a:avLst>
              <a:gd name="adj" fmla="val 4902"/>
            </a:avLst>
          </a:prstGeom>
          <a:solidFill>
            <a:srgbClr val="F1F4F8"/>
          </a:solidFill>
          <a:ln/>
        </p:spPr>
      </p:sp>
      <p:sp>
        <p:nvSpPr>
          <p:cNvPr id="25" name="Shape 23"/>
          <p:cNvSpPr/>
          <p:nvPr/>
        </p:nvSpPr>
        <p:spPr>
          <a:xfrm>
            <a:off x="667512" y="3639312"/>
            <a:ext cx="384048" cy="384048"/>
          </a:xfrm>
          <a:prstGeom prst="ellipse">
            <a:avLst/>
          </a:prstGeom>
          <a:solidFill>
            <a:srgbClr val="1C7293"/>
          </a:solidFill>
          <a:ln/>
        </p:spPr>
      </p:sp>
      <p:sp>
        <p:nvSpPr>
          <p:cNvPr id="26" name="Text 24"/>
          <p:cNvSpPr/>
          <p:nvPr/>
        </p:nvSpPr>
        <p:spPr>
          <a:xfrm>
            <a:off x="667512" y="36393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179576" y="3493008"/>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Latch</a:t>
            </a:r>
            <a:endParaRPr lang="en-US" sz="1350" dirty="0"/>
          </a:p>
        </p:txBody>
      </p:sp>
      <p:sp>
        <p:nvSpPr>
          <p:cNvPr id="28" name="Text 26"/>
          <p:cNvSpPr/>
          <p:nvPr/>
        </p:nvSpPr>
        <p:spPr>
          <a:xfrm>
            <a:off x="1179576" y="3767328"/>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State machine. Two frames to fire, four to clear, cooldown, re-arm.</a:t>
            </a:r>
            <a:endParaRPr lang="en-US" sz="1100" dirty="0"/>
          </a:p>
        </p:txBody>
      </p:sp>
      <p:sp>
        <p:nvSpPr>
          <p:cNvPr id="29" name="Shape 27"/>
          <p:cNvSpPr/>
          <p:nvPr/>
        </p:nvSpPr>
        <p:spPr>
          <a:xfrm>
            <a:off x="4727448" y="3364992"/>
            <a:ext cx="3950208" cy="932688"/>
          </a:xfrm>
          <a:prstGeom prst="roundRect">
            <a:avLst>
              <a:gd name="adj" fmla="val 4902"/>
            </a:avLst>
          </a:prstGeom>
          <a:solidFill>
            <a:srgbClr val="F1F4F8"/>
          </a:solidFill>
          <a:ln/>
        </p:spPr>
      </p:sp>
      <p:sp>
        <p:nvSpPr>
          <p:cNvPr id="30" name="Shape 28"/>
          <p:cNvSpPr/>
          <p:nvPr/>
        </p:nvSpPr>
        <p:spPr>
          <a:xfrm>
            <a:off x="4892040" y="3639312"/>
            <a:ext cx="384048" cy="384048"/>
          </a:xfrm>
          <a:prstGeom prst="ellipse">
            <a:avLst/>
          </a:prstGeom>
          <a:solidFill>
            <a:srgbClr val="1C7293"/>
          </a:solidFill>
          <a:ln/>
        </p:spPr>
      </p:sp>
      <p:sp>
        <p:nvSpPr>
          <p:cNvPr id="31" name="Text 29"/>
          <p:cNvSpPr/>
          <p:nvPr/>
        </p:nvSpPr>
        <p:spPr>
          <a:xfrm>
            <a:off x="4892040" y="36393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5404104" y="3493008"/>
            <a:ext cx="3108960" cy="256032"/>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Advance</a:t>
            </a:r>
            <a:endParaRPr lang="en-US" sz="1350" dirty="0"/>
          </a:p>
        </p:txBody>
      </p:sp>
      <p:sp>
        <p:nvSpPr>
          <p:cNvPr id="33" name="Text 31"/>
          <p:cNvSpPr/>
          <p:nvPr/>
        </p:nvSpPr>
        <p:spPr>
          <a:xfrm>
            <a:off x="5404104" y="3767328"/>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3D4451"/>
                </a:solidFill>
                <a:latin typeface="Calibri" pitchFamily="34" charset="0"/>
                <a:ea typeface="Calibri" pitchFamily="34" charset="-122"/>
                <a:cs typeface="Calibri" pitchFamily="34" charset="-120"/>
              </a:rPr>
              <a:t>One tenth of a second. The walker closes 0.14 m. Repeat.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TRACEABILITY</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Where the numbers come from</a:t>
            </a:r>
            <a:endParaRPr lang="en-US" sz="3000" dirty="0"/>
          </a:p>
        </p:txBody>
      </p:sp>
      <p:sp>
        <p:nvSpPr>
          <p:cNvPr id="4" name="Text 2"/>
          <p:cNvSpPr/>
          <p:nvPr/>
        </p:nvSpPr>
        <p:spPr>
          <a:xfrm>
            <a:off x="502920" y="1188720"/>
            <a:ext cx="8138160" cy="329184"/>
          </a:xfrm>
          <a:prstGeom prst="rect">
            <a:avLst/>
          </a:prstGeom>
          <a:noFill/>
          <a:ln/>
        </p:spPr>
        <p:txBody>
          <a:bodyPr wrap="square" lIns="0" tIns="0" rIns="0" bIns="0" rtlCol="0" anchor="ctr"/>
          <a:lstStyle/>
          <a:p>
            <a:pPr indent="0" marL="0">
              <a:buNone/>
            </a:pPr>
            <a:r>
              <a:rPr lang="en-US" sz="1400" dirty="0">
                <a:solidFill>
                  <a:srgbClr val="3D4451"/>
                </a:solidFill>
                <a:latin typeface="Calibri" pitchFamily="34" charset="0"/>
                <a:ea typeface="Calibri" pitchFamily="34" charset="-122"/>
                <a:cs typeface="Calibri" pitchFamily="34" charset="-120"/>
              </a:rPr>
              <a:t>Every threshold in the simulation is copied from the shipped Android source, so the study cannot drift from the app.</a:t>
            </a:r>
            <a:endParaRPr lang="en-US" sz="1400" dirty="0"/>
          </a:p>
        </p:txBody>
      </p:sp>
      <p:sp>
        <p:nvSpPr>
          <p:cNvPr id="5" name="Shape 3"/>
          <p:cNvSpPr/>
          <p:nvPr/>
        </p:nvSpPr>
        <p:spPr>
          <a:xfrm>
            <a:off x="502920" y="1645920"/>
            <a:ext cx="8138160" cy="768096"/>
          </a:xfrm>
          <a:prstGeom prst="roundRect">
            <a:avLst>
              <a:gd name="adj" fmla="val 5952"/>
            </a:avLst>
          </a:prstGeom>
          <a:solidFill>
            <a:srgbClr val="F1F4F8"/>
          </a:solidFill>
          <a:ln/>
        </p:spPr>
      </p:sp>
      <p:sp>
        <p:nvSpPr>
          <p:cNvPr id="6" name="Text 4"/>
          <p:cNvSpPr/>
          <p:nvPr/>
        </p:nvSpPr>
        <p:spPr>
          <a:xfrm>
            <a:off x="713232" y="1755648"/>
            <a:ext cx="2286000" cy="256032"/>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ObstacleDetector.kt</a:t>
            </a:r>
            <a:endParaRPr lang="en-US" sz="1200" dirty="0"/>
          </a:p>
        </p:txBody>
      </p:sp>
      <p:sp>
        <p:nvSpPr>
          <p:cNvPr id="7" name="Text 5"/>
          <p:cNvSpPr/>
          <p:nvPr/>
        </p:nvSpPr>
        <p:spPr>
          <a:xfrm>
            <a:off x="3054096" y="1755648"/>
            <a:ext cx="1188720" cy="256032"/>
          </a:xfrm>
          <a:prstGeom prst="rect">
            <a:avLst/>
          </a:prstGeom>
          <a:noFill/>
          <a:ln/>
        </p:spPr>
        <p:txBody>
          <a:bodyPr wrap="square" lIns="0" tIns="0" rIns="0" bIns="0" rtlCol="0" anchor="ctr"/>
          <a:lstStyle/>
          <a:p>
            <a:pPr indent="0" marL="0">
              <a:buNone/>
            </a:pPr>
            <a:r>
              <a:rPr lang="en-US" sz="1100" dirty="0">
                <a:solidFill>
                  <a:srgbClr val="7A8290"/>
                </a:solidFill>
                <a:latin typeface="Courier New" pitchFamily="34" charset="0"/>
                <a:ea typeface="Courier New" pitchFamily="34" charset="-122"/>
                <a:cs typeface="Courier New" pitchFamily="34" charset="-120"/>
              </a:rPr>
              <a:t>ReflexTuning</a:t>
            </a:r>
            <a:endParaRPr lang="en-US" sz="1100" dirty="0"/>
          </a:p>
        </p:txBody>
      </p:sp>
      <p:sp>
        <p:nvSpPr>
          <p:cNvPr id="8" name="Text 6"/>
          <p:cNvSpPr/>
          <p:nvPr/>
        </p:nvSpPr>
        <p:spPr>
          <a:xfrm>
            <a:off x="713232" y="2048256"/>
            <a:ext cx="7717536" cy="274320"/>
          </a:xfrm>
          <a:prstGeom prst="rect">
            <a:avLst/>
          </a:prstGeom>
          <a:noFill/>
          <a:ln/>
        </p:spPr>
        <p:txBody>
          <a:bodyPr wrap="square" lIns="0" tIns="0" rIns="0" bIns="0" rtlCol="0" anchor="ctr"/>
          <a:lstStyle/>
          <a:p>
            <a:pPr indent="0" marL="0">
              <a:buNone/>
            </a:pPr>
            <a:r>
              <a:rPr lang="en-US" sz="1150" dirty="0">
                <a:solidFill>
                  <a:srgbClr val="3D4451"/>
                </a:solidFill>
                <a:latin typeface="Calibri" pitchFamily="34" charset="0"/>
                <a:ea typeface="Calibri" pitchFamily="34" charset="-122"/>
                <a:cs typeface="Calibri" pitchFamily="34" charset="-120"/>
              </a:rPr>
              <a:t>corridor 0.32 to 0.68, near height 0.34, near area 0.12, enter 2, clear 4</a:t>
            </a:r>
            <a:endParaRPr lang="en-US" sz="1150" dirty="0"/>
          </a:p>
        </p:txBody>
      </p:sp>
      <p:sp>
        <p:nvSpPr>
          <p:cNvPr id="9" name="Shape 7"/>
          <p:cNvSpPr/>
          <p:nvPr/>
        </p:nvSpPr>
        <p:spPr>
          <a:xfrm>
            <a:off x="502920" y="2523744"/>
            <a:ext cx="8138160" cy="768096"/>
          </a:xfrm>
          <a:prstGeom prst="roundRect">
            <a:avLst>
              <a:gd name="adj" fmla="val 5952"/>
            </a:avLst>
          </a:prstGeom>
          <a:solidFill>
            <a:srgbClr val="F1F4F8"/>
          </a:solidFill>
          <a:ln/>
        </p:spPr>
      </p:sp>
      <p:sp>
        <p:nvSpPr>
          <p:cNvPr id="10" name="Text 8"/>
          <p:cNvSpPr/>
          <p:nvPr/>
        </p:nvSpPr>
        <p:spPr>
          <a:xfrm>
            <a:off x="713232" y="2633472"/>
            <a:ext cx="2286000" cy="256032"/>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ObstacleDetector.kt</a:t>
            </a:r>
            <a:endParaRPr lang="en-US" sz="1200" dirty="0"/>
          </a:p>
        </p:txBody>
      </p:sp>
      <p:sp>
        <p:nvSpPr>
          <p:cNvPr id="11" name="Text 9"/>
          <p:cNvSpPr/>
          <p:nvPr/>
        </p:nvSpPr>
        <p:spPr>
          <a:xfrm>
            <a:off x="3054096" y="2633472"/>
            <a:ext cx="1188720" cy="256032"/>
          </a:xfrm>
          <a:prstGeom prst="rect">
            <a:avLst/>
          </a:prstGeom>
          <a:noFill/>
          <a:ln/>
        </p:spPr>
        <p:txBody>
          <a:bodyPr wrap="square" lIns="0" tIns="0" rIns="0" bIns="0" rtlCol="0" anchor="ctr"/>
          <a:lstStyle/>
          <a:p>
            <a:pPr indent="0" marL="0">
              <a:buNone/>
            </a:pPr>
            <a:r>
              <a:rPr lang="en-US" sz="1100" dirty="0">
                <a:solidFill>
                  <a:srgbClr val="7A8290"/>
                </a:solidFill>
                <a:latin typeface="Courier New" pitchFamily="34" charset="0"/>
                <a:ea typeface="Courier New" pitchFamily="34" charset="-122"/>
                <a:cs typeface="Courier New" pitchFamily="34" charset="-120"/>
              </a:rPr>
              <a:t>companion</a:t>
            </a:r>
            <a:endParaRPr lang="en-US" sz="1100" dirty="0"/>
          </a:p>
        </p:txBody>
      </p:sp>
      <p:sp>
        <p:nvSpPr>
          <p:cNvPr id="12" name="Text 10"/>
          <p:cNvSpPr/>
          <p:nvPr/>
        </p:nvSpPr>
        <p:spPr>
          <a:xfrm>
            <a:off x="713232" y="2926080"/>
            <a:ext cx="7717536" cy="274320"/>
          </a:xfrm>
          <a:prstGeom prst="rect">
            <a:avLst/>
          </a:prstGeom>
          <a:noFill/>
          <a:ln/>
        </p:spPr>
        <p:txBody>
          <a:bodyPr wrap="square" lIns="0" tIns="0" rIns="0" bIns="0" rtlCol="0" anchor="ctr"/>
          <a:lstStyle/>
          <a:p>
            <a:pPr indent="0" marL="0">
              <a:buNone/>
            </a:pPr>
            <a:r>
              <a:rPr lang="en-US" sz="1150" dirty="0">
                <a:solidFill>
                  <a:srgbClr val="3D4451"/>
                </a:solidFill>
                <a:latin typeface="Calibri" pitchFamily="34" charset="0"/>
                <a:ea typeface="Calibri" pitchFamily="34" charset="-122"/>
                <a:cs typeface="Calibri" pitchFamily="34" charset="-120"/>
              </a:rPr>
              <a:t>loom window 0.9 s, time to contact 2.0 s, growth rate 0.6 per s</a:t>
            </a:r>
            <a:endParaRPr lang="en-US" sz="1150" dirty="0"/>
          </a:p>
        </p:txBody>
      </p:sp>
      <p:sp>
        <p:nvSpPr>
          <p:cNvPr id="13" name="Shape 11"/>
          <p:cNvSpPr/>
          <p:nvPr/>
        </p:nvSpPr>
        <p:spPr>
          <a:xfrm>
            <a:off x="502920" y="3401568"/>
            <a:ext cx="8138160" cy="768096"/>
          </a:xfrm>
          <a:prstGeom prst="roundRect">
            <a:avLst>
              <a:gd name="adj" fmla="val 5952"/>
            </a:avLst>
          </a:prstGeom>
          <a:solidFill>
            <a:srgbClr val="F1F4F8"/>
          </a:solidFill>
          <a:ln/>
        </p:spPr>
      </p:sp>
      <p:sp>
        <p:nvSpPr>
          <p:cNvPr id="14" name="Text 12"/>
          <p:cNvSpPr/>
          <p:nvPr/>
        </p:nvSpPr>
        <p:spPr>
          <a:xfrm>
            <a:off x="713232" y="3511296"/>
            <a:ext cx="2286000" cy="256032"/>
          </a:xfrm>
          <a:prstGeom prst="rect">
            <a:avLst/>
          </a:prstGeom>
          <a:noFill/>
          <a:ln/>
        </p:spPr>
        <p:txBody>
          <a:bodyPr wrap="square" lIns="0" tIns="0" rIns="0" bIns="0" rtlCol="0" anchor="ctr"/>
          <a:lstStyle/>
          <a:p>
            <a:pPr indent="0" marL="0">
              <a:buNone/>
            </a:pPr>
            <a:r>
              <a:rPr lang="en-US" sz="1200" b="1" dirty="0">
                <a:solidFill>
                  <a:srgbClr val="065A82"/>
                </a:solidFill>
                <a:latin typeface="Courier New" pitchFamily="34" charset="0"/>
                <a:ea typeface="Courier New" pitchFamily="34" charset="-122"/>
                <a:cs typeface="Courier New" pitchFamily="34" charset="-120"/>
              </a:rPr>
              <a:t>VisionActivity.kt</a:t>
            </a:r>
            <a:endParaRPr lang="en-US" sz="1200" dirty="0"/>
          </a:p>
        </p:txBody>
      </p:sp>
      <p:sp>
        <p:nvSpPr>
          <p:cNvPr id="15" name="Text 13"/>
          <p:cNvSpPr/>
          <p:nvPr/>
        </p:nvSpPr>
        <p:spPr>
          <a:xfrm>
            <a:off x="3054096" y="3511296"/>
            <a:ext cx="1188720" cy="256032"/>
          </a:xfrm>
          <a:prstGeom prst="rect">
            <a:avLst/>
          </a:prstGeom>
          <a:noFill/>
          <a:ln/>
        </p:spPr>
        <p:txBody>
          <a:bodyPr wrap="square" lIns="0" tIns="0" rIns="0" bIns="0" rtlCol="0" anchor="ctr"/>
          <a:lstStyle/>
          <a:p>
            <a:pPr indent="0" marL="0">
              <a:buNone/>
            </a:pPr>
            <a:r>
              <a:rPr lang="en-US" sz="1100" dirty="0">
                <a:solidFill>
                  <a:srgbClr val="7A8290"/>
                </a:solidFill>
                <a:latin typeface="Courier New" pitchFamily="34" charset="0"/>
                <a:ea typeface="Courier New" pitchFamily="34" charset="-122"/>
                <a:cs typeface="Courier New" pitchFamily="34" charset="-120"/>
              </a:rPr>
              <a:t>companion</a:t>
            </a:r>
            <a:endParaRPr lang="en-US" sz="1100" dirty="0"/>
          </a:p>
        </p:txBody>
      </p:sp>
      <p:sp>
        <p:nvSpPr>
          <p:cNvPr id="16" name="Text 14"/>
          <p:cNvSpPr/>
          <p:nvPr/>
        </p:nvSpPr>
        <p:spPr>
          <a:xfrm>
            <a:off x="713232" y="3803904"/>
            <a:ext cx="7717536" cy="274320"/>
          </a:xfrm>
          <a:prstGeom prst="rect">
            <a:avLst/>
          </a:prstGeom>
          <a:noFill/>
          <a:ln/>
        </p:spPr>
        <p:txBody>
          <a:bodyPr wrap="square" lIns="0" tIns="0" rIns="0" bIns="0" rtlCol="0" anchor="ctr"/>
          <a:lstStyle/>
          <a:p>
            <a:pPr indent="0" marL="0">
              <a:buNone/>
            </a:pPr>
            <a:r>
              <a:rPr lang="en-US" sz="1150" dirty="0">
                <a:solidFill>
                  <a:srgbClr val="3D4451"/>
                </a:solidFill>
                <a:latin typeface="Calibri" pitchFamily="34" charset="0"/>
                <a:ea typeface="Calibri" pitchFamily="34" charset="-122"/>
                <a:cs typeface="Calibri" pitchFamily="34" charset="-120"/>
              </a:rPr>
              <a:t>stop cooldown 3500 ms, re-arm 1200 ms, throttle 1500 ms</a:t>
            </a:r>
            <a:endParaRPr lang="en-US" sz="1150" dirty="0"/>
          </a:p>
        </p:txBody>
      </p:sp>
      <p:sp>
        <p:nvSpPr>
          <p:cNvPr id="17" name="Text 15"/>
          <p:cNvSpPr/>
          <p:nvPr/>
        </p:nvSpPr>
        <p:spPr>
          <a:xfrm>
            <a:off x="502920" y="4261104"/>
            <a:ext cx="8138160" cy="365760"/>
          </a:xfrm>
          <a:prstGeom prst="rect">
            <a:avLst/>
          </a:prstGeom>
          <a:noFill/>
          <a:ln/>
        </p:spPr>
        <p:txBody>
          <a:bodyPr wrap="square" lIns="0" tIns="0" rIns="0" bIns="0" rtlCol="0" anchor="ctr"/>
          <a:lstStyle/>
          <a:p>
            <a:pPr indent="0" marL="0">
              <a:buNone/>
            </a:pPr>
            <a:r>
              <a:rPr lang="en-US" sz="1300" b="1" i="1" dirty="0">
                <a:solidFill>
                  <a:srgbClr val="21295C"/>
                </a:solidFill>
                <a:latin typeface="Calibri" pitchFamily="34" charset="0"/>
                <a:ea typeface="Calibri" pitchFamily="34" charset="-122"/>
                <a:cs typeface="Calibri" pitchFamily="34" charset="-120"/>
              </a:rPr>
              <a:t>Change a constant in the app, rerun the three scripts, and every figure and quoted number updates together.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MAPPING</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Which output becomes which paper figure</a:t>
            </a:r>
            <a:endParaRPr lang="en-US" sz="3000" dirty="0"/>
          </a:p>
        </p:txBody>
      </p:sp>
      <p:sp>
        <p:nvSpPr>
          <p:cNvPr id="4" name="Shape 2"/>
          <p:cNvSpPr/>
          <p:nvPr/>
        </p:nvSpPr>
        <p:spPr>
          <a:xfrm>
            <a:off x="502920" y="1225296"/>
            <a:ext cx="5029200" cy="731520"/>
          </a:xfrm>
          <a:prstGeom prst="roundRect">
            <a:avLst>
              <a:gd name="adj" fmla="val 6250"/>
            </a:avLst>
          </a:prstGeom>
          <a:solidFill>
            <a:srgbClr val="F1F4F8"/>
          </a:solidFill>
          <a:ln/>
        </p:spPr>
      </p:sp>
      <p:sp>
        <p:nvSpPr>
          <p:cNvPr id="5" name="Text 3"/>
          <p:cNvSpPr/>
          <p:nvPr/>
        </p:nvSpPr>
        <p:spPr>
          <a:xfrm>
            <a:off x="685800" y="1316736"/>
            <a:ext cx="2834640" cy="256032"/>
          </a:xfrm>
          <a:prstGeom prst="rect">
            <a:avLst/>
          </a:prstGeom>
          <a:noFill/>
          <a:ln/>
        </p:spPr>
        <p:txBody>
          <a:bodyPr wrap="square" lIns="0" tIns="0" rIns="0" bIns="0" rtlCol="0" anchor="ctr"/>
          <a:lstStyle/>
          <a:p>
            <a:pPr indent="0" marL="0">
              <a:buNone/>
            </a:pPr>
            <a:r>
              <a:rPr lang="en-US" sz="1150" b="1" dirty="0">
                <a:solidFill>
                  <a:srgbClr val="1A1A1A"/>
                </a:solidFill>
                <a:latin typeface="Courier New" pitchFamily="34" charset="0"/>
                <a:ea typeface="Courier New" pitchFamily="34" charset="-122"/>
                <a:cs typeface="Courier New" pitchFamily="34" charset="-120"/>
              </a:rPr>
              <a:t>fig1_architecture.png</a:t>
            </a:r>
            <a:endParaRPr lang="en-US" sz="1150" dirty="0"/>
          </a:p>
        </p:txBody>
      </p:sp>
      <p:sp>
        <p:nvSpPr>
          <p:cNvPr id="6" name="Text 4"/>
          <p:cNvSpPr/>
          <p:nvPr/>
        </p:nvSpPr>
        <p:spPr>
          <a:xfrm>
            <a:off x="685800" y="1609344"/>
            <a:ext cx="4663440" cy="256032"/>
          </a:xfrm>
          <a:prstGeom prst="rect">
            <a:avLst/>
          </a:prstGeom>
          <a:noFill/>
          <a:ln/>
        </p:spPr>
        <p:txBody>
          <a:bodyPr wrap="square" lIns="0" tIns="0" rIns="0" bIns="0" rtlCol="0" anchor="ctr"/>
          <a:lstStyle/>
          <a:p>
            <a:pPr indent="0" marL="0">
              <a:buNone/>
            </a:pPr>
            <a:r>
              <a:rPr lang="en-US" sz="1100" dirty="0">
                <a:solidFill>
                  <a:srgbClr val="3D4451"/>
                </a:solidFill>
                <a:latin typeface="Calibri" pitchFamily="34" charset="0"/>
                <a:ea typeface="Calibri" pitchFamily="34" charset="-122"/>
                <a:cs typeface="Calibri" pitchFamily="34" charset="-120"/>
              </a:rPr>
              <a:t>Two tier runtime architecture</a:t>
            </a:r>
            <a:endParaRPr lang="en-US" sz="1100" dirty="0"/>
          </a:p>
        </p:txBody>
      </p:sp>
      <p:sp>
        <p:nvSpPr>
          <p:cNvPr id="7" name="Shape 5"/>
          <p:cNvSpPr/>
          <p:nvPr/>
        </p:nvSpPr>
        <p:spPr>
          <a:xfrm>
            <a:off x="4526280" y="1316736"/>
            <a:ext cx="859536" cy="274320"/>
          </a:xfrm>
          <a:prstGeom prst="roundRect">
            <a:avLst>
              <a:gd name="adj" fmla="val 16667"/>
            </a:avLst>
          </a:prstGeom>
          <a:solidFill>
            <a:srgbClr val="065A82"/>
          </a:solidFill>
          <a:ln/>
        </p:spPr>
      </p:sp>
      <p:sp>
        <p:nvSpPr>
          <p:cNvPr id="8" name="Text 6"/>
          <p:cNvSpPr/>
          <p:nvPr/>
        </p:nvSpPr>
        <p:spPr>
          <a:xfrm>
            <a:off x="4526280" y="1316736"/>
            <a:ext cx="859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Figure 1</a:t>
            </a:r>
            <a:endParaRPr lang="en-US" sz="1050" dirty="0"/>
          </a:p>
        </p:txBody>
      </p:sp>
      <p:sp>
        <p:nvSpPr>
          <p:cNvPr id="9" name="Shape 7"/>
          <p:cNvSpPr/>
          <p:nvPr/>
        </p:nvSpPr>
        <p:spPr>
          <a:xfrm>
            <a:off x="502920" y="2066544"/>
            <a:ext cx="5029200" cy="731520"/>
          </a:xfrm>
          <a:prstGeom prst="roundRect">
            <a:avLst>
              <a:gd name="adj" fmla="val 6250"/>
            </a:avLst>
          </a:prstGeom>
          <a:solidFill>
            <a:srgbClr val="F1F4F8"/>
          </a:solidFill>
          <a:ln/>
        </p:spPr>
      </p:sp>
      <p:sp>
        <p:nvSpPr>
          <p:cNvPr id="10" name="Text 8"/>
          <p:cNvSpPr/>
          <p:nvPr/>
        </p:nvSpPr>
        <p:spPr>
          <a:xfrm>
            <a:off x="685800" y="2157984"/>
            <a:ext cx="2834640" cy="256032"/>
          </a:xfrm>
          <a:prstGeom prst="rect">
            <a:avLst/>
          </a:prstGeom>
          <a:noFill/>
          <a:ln/>
        </p:spPr>
        <p:txBody>
          <a:bodyPr wrap="square" lIns="0" tIns="0" rIns="0" bIns="0" rtlCol="0" anchor="ctr"/>
          <a:lstStyle/>
          <a:p>
            <a:pPr indent="0" marL="0">
              <a:buNone/>
            </a:pPr>
            <a:r>
              <a:rPr lang="en-US" sz="1150" b="1" dirty="0">
                <a:solidFill>
                  <a:srgbClr val="1A1A1A"/>
                </a:solidFill>
                <a:latin typeface="Courier New" pitchFamily="34" charset="0"/>
                <a:ea typeface="Courier New" pitchFamily="34" charset="-122"/>
                <a:cs typeface="Courier New" pitchFamily="34" charset="-120"/>
              </a:rPr>
              <a:t>fig3_warning.png</a:t>
            </a:r>
            <a:endParaRPr lang="en-US" sz="1150" dirty="0"/>
          </a:p>
        </p:txBody>
      </p:sp>
      <p:sp>
        <p:nvSpPr>
          <p:cNvPr id="11" name="Text 9"/>
          <p:cNvSpPr/>
          <p:nvPr/>
        </p:nvSpPr>
        <p:spPr>
          <a:xfrm>
            <a:off x="685800" y="2450592"/>
            <a:ext cx="4663440" cy="256032"/>
          </a:xfrm>
          <a:prstGeom prst="rect">
            <a:avLst/>
          </a:prstGeom>
          <a:noFill/>
          <a:ln/>
        </p:spPr>
        <p:txBody>
          <a:bodyPr wrap="square" lIns="0" tIns="0" rIns="0" bIns="0" rtlCol="0" anchor="ctr"/>
          <a:lstStyle/>
          <a:p>
            <a:pPr indent="0" marL="0">
              <a:buNone/>
            </a:pPr>
            <a:r>
              <a:rPr lang="en-US" sz="1100" dirty="0">
                <a:solidFill>
                  <a:srgbClr val="3D4451"/>
                </a:solidFill>
                <a:latin typeface="Calibri" pitchFamily="34" charset="0"/>
                <a:ea typeface="Calibri" pitchFamily="34" charset="-122"/>
                <a:cs typeface="Calibri" pitchFamily="34" charset="-120"/>
              </a:rPr>
              <a:t>Alert distance versus obstacle height</a:t>
            </a:r>
            <a:endParaRPr lang="en-US" sz="1100" dirty="0"/>
          </a:p>
        </p:txBody>
      </p:sp>
      <p:sp>
        <p:nvSpPr>
          <p:cNvPr id="12" name="Shape 10"/>
          <p:cNvSpPr/>
          <p:nvPr/>
        </p:nvSpPr>
        <p:spPr>
          <a:xfrm>
            <a:off x="4526280" y="2157984"/>
            <a:ext cx="859536" cy="274320"/>
          </a:xfrm>
          <a:prstGeom prst="roundRect">
            <a:avLst>
              <a:gd name="adj" fmla="val 16667"/>
            </a:avLst>
          </a:prstGeom>
          <a:solidFill>
            <a:srgbClr val="065A82"/>
          </a:solidFill>
          <a:ln/>
        </p:spPr>
      </p:sp>
      <p:sp>
        <p:nvSpPr>
          <p:cNvPr id="13" name="Text 11"/>
          <p:cNvSpPr/>
          <p:nvPr/>
        </p:nvSpPr>
        <p:spPr>
          <a:xfrm>
            <a:off x="4526280" y="2157984"/>
            <a:ext cx="859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Figure 2</a:t>
            </a:r>
            <a:endParaRPr lang="en-US" sz="1050" dirty="0"/>
          </a:p>
        </p:txBody>
      </p:sp>
      <p:sp>
        <p:nvSpPr>
          <p:cNvPr id="14" name="Shape 12"/>
          <p:cNvSpPr/>
          <p:nvPr/>
        </p:nvSpPr>
        <p:spPr>
          <a:xfrm>
            <a:off x="502920" y="2907792"/>
            <a:ext cx="5029200" cy="731520"/>
          </a:xfrm>
          <a:prstGeom prst="roundRect">
            <a:avLst>
              <a:gd name="adj" fmla="val 6250"/>
            </a:avLst>
          </a:prstGeom>
          <a:solidFill>
            <a:srgbClr val="F1F4F8"/>
          </a:solidFill>
          <a:ln/>
        </p:spPr>
      </p:sp>
      <p:sp>
        <p:nvSpPr>
          <p:cNvPr id="15" name="Text 13"/>
          <p:cNvSpPr/>
          <p:nvPr/>
        </p:nvSpPr>
        <p:spPr>
          <a:xfrm>
            <a:off x="685800" y="2999232"/>
            <a:ext cx="2834640" cy="256032"/>
          </a:xfrm>
          <a:prstGeom prst="rect">
            <a:avLst/>
          </a:prstGeom>
          <a:noFill/>
          <a:ln/>
        </p:spPr>
        <p:txBody>
          <a:bodyPr wrap="square" lIns="0" tIns="0" rIns="0" bIns="0" rtlCol="0" anchor="ctr"/>
          <a:lstStyle/>
          <a:p>
            <a:pPr indent="0" marL="0">
              <a:buNone/>
            </a:pPr>
            <a:r>
              <a:rPr lang="en-US" sz="1150" b="1" dirty="0">
                <a:solidFill>
                  <a:srgbClr val="1A1A1A"/>
                </a:solidFill>
                <a:latin typeface="Courier New" pitchFamily="34" charset="0"/>
                <a:ea typeface="Courier New" pitchFamily="34" charset="-122"/>
                <a:cs typeface="Courier New" pitchFamily="34" charset="-120"/>
              </a:rPr>
              <a:t>fig_baselines.png</a:t>
            </a:r>
            <a:endParaRPr lang="en-US" sz="1150" dirty="0"/>
          </a:p>
        </p:txBody>
      </p:sp>
      <p:sp>
        <p:nvSpPr>
          <p:cNvPr id="16" name="Text 14"/>
          <p:cNvSpPr/>
          <p:nvPr/>
        </p:nvSpPr>
        <p:spPr>
          <a:xfrm>
            <a:off x="685800" y="3291840"/>
            <a:ext cx="4663440" cy="256032"/>
          </a:xfrm>
          <a:prstGeom prst="rect">
            <a:avLst/>
          </a:prstGeom>
          <a:noFill/>
          <a:ln/>
        </p:spPr>
        <p:txBody>
          <a:bodyPr wrap="square" lIns="0" tIns="0" rIns="0" bIns="0" rtlCol="0" anchor="ctr"/>
          <a:lstStyle/>
          <a:p>
            <a:pPr indent="0" marL="0">
              <a:buNone/>
            </a:pPr>
            <a:r>
              <a:rPr lang="en-US" sz="1100" dirty="0">
                <a:solidFill>
                  <a:srgbClr val="3D4451"/>
                </a:solidFill>
                <a:latin typeface="Calibri" pitchFamily="34" charset="0"/>
                <a:ea typeface="Calibri" pitchFamily="34" charset="-122"/>
                <a:cs typeface="Calibri" pitchFamily="34" charset="-120"/>
              </a:rPr>
              <a:t>Five rule comparison, replaces the old legacy figure</a:t>
            </a:r>
            <a:endParaRPr lang="en-US" sz="1100" dirty="0"/>
          </a:p>
        </p:txBody>
      </p:sp>
      <p:sp>
        <p:nvSpPr>
          <p:cNvPr id="17" name="Shape 15"/>
          <p:cNvSpPr/>
          <p:nvPr/>
        </p:nvSpPr>
        <p:spPr>
          <a:xfrm>
            <a:off x="4526280" y="2999232"/>
            <a:ext cx="859536" cy="274320"/>
          </a:xfrm>
          <a:prstGeom prst="roundRect">
            <a:avLst>
              <a:gd name="adj" fmla="val 16667"/>
            </a:avLst>
          </a:prstGeom>
          <a:solidFill>
            <a:srgbClr val="FFB627"/>
          </a:solidFill>
          <a:ln/>
        </p:spPr>
      </p:sp>
      <p:sp>
        <p:nvSpPr>
          <p:cNvPr id="18" name="Text 16"/>
          <p:cNvSpPr/>
          <p:nvPr/>
        </p:nvSpPr>
        <p:spPr>
          <a:xfrm>
            <a:off x="4526280" y="2999232"/>
            <a:ext cx="859536" cy="27432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Figure 3</a:t>
            </a:r>
            <a:endParaRPr lang="en-US" sz="1050" dirty="0"/>
          </a:p>
        </p:txBody>
      </p:sp>
      <p:sp>
        <p:nvSpPr>
          <p:cNvPr id="19" name="Shape 17"/>
          <p:cNvSpPr/>
          <p:nvPr/>
        </p:nvSpPr>
        <p:spPr>
          <a:xfrm>
            <a:off x="502920" y="3749040"/>
            <a:ext cx="5029200" cy="731520"/>
          </a:xfrm>
          <a:prstGeom prst="roundRect">
            <a:avLst>
              <a:gd name="adj" fmla="val 6250"/>
            </a:avLst>
          </a:prstGeom>
          <a:solidFill>
            <a:srgbClr val="F1F4F8"/>
          </a:solidFill>
          <a:ln/>
        </p:spPr>
      </p:sp>
      <p:sp>
        <p:nvSpPr>
          <p:cNvPr id="20" name="Text 18"/>
          <p:cNvSpPr/>
          <p:nvPr/>
        </p:nvSpPr>
        <p:spPr>
          <a:xfrm>
            <a:off x="685800" y="3840480"/>
            <a:ext cx="2834640" cy="256032"/>
          </a:xfrm>
          <a:prstGeom prst="rect">
            <a:avLst/>
          </a:prstGeom>
          <a:noFill/>
          <a:ln/>
        </p:spPr>
        <p:txBody>
          <a:bodyPr wrap="square" lIns="0" tIns="0" rIns="0" bIns="0" rtlCol="0" anchor="ctr"/>
          <a:lstStyle/>
          <a:p>
            <a:pPr indent="0" marL="0">
              <a:buNone/>
            </a:pPr>
            <a:r>
              <a:rPr lang="en-US" sz="1150" b="1" dirty="0">
                <a:solidFill>
                  <a:srgbClr val="1A1A1A"/>
                </a:solidFill>
                <a:latin typeface="Courier New" pitchFamily="34" charset="0"/>
                <a:ea typeface="Courier New" pitchFamily="34" charset="-122"/>
                <a:cs typeface="Courier New" pitchFamily="34" charset="-120"/>
              </a:rPr>
              <a:t>fig4_timeline.png</a:t>
            </a:r>
            <a:endParaRPr lang="en-US" sz="1150" dirty="0"/>
          </a:p>
        </p:txBody>
      </p:sp>
      <p:sp>
        <p:nvSpPr>
          <p:cNvPr id="21" name="Text 19"/>
          <p:cNvSpPr/>
          <p:nvPr/>
        </p:nvSpPr>
        <p:spPr>
          <a:xfrm>
            <a:off x="685800" y="4133088"/>
            <a:ext cx="4663440" cy="256032"/>
          </a:xfrm>
          <a:prstGeom prst="rect">
            <a:avLst/>
          </a:prstGeom>
          <a:noFill/>
          <a:ln/>
        </p:spPr>
        <p:txBody>
          <a:bodyPr wrap="square" lIns="0" tIns="0" rIns="0" bIns="0" rtlCol="0" anchor="ctr"/>
          <a:lstStyle/>
          <a:p>
            <a:pPr indent="0" marL="0">
              <a:buNone/>
            </a:pPr>
            <a:r>
              <a:rPr lang="en-US" sz="1100" dirty="0">
                <a:solidFill>
                  <a:srgbClr val="3D4451"/>
                </a:solidFill>
                <a:latin typeface="Calibri" pitchFamily="34" charset="0"/>
                <a:ea typeface="Calibri" pitchFamily="34" charset="-122"/>
                <a:cs typeface="Calibri" pitchFamily="34" charset="-120"/>
              </a:rPr>
              <a:t>Double approach, two alerts versus 81</a:t>
            </a:r>
            <a:endParaRPr lang="en-US" sz="1100" dirty="0"/>
          </a:p>
        </p:txBody>
      </p:sp>
      <p:sp>
        <p:nvSpPr>
          <p:cNvPr id="22" name="Shape 20"/>
          <p:cNvSpPr/>
          <p:nvPr/>
        </p:nvSpPr>
        <p:spPr>
          <a:xfrm>
            <a:off x="4526280" y="3840480"/>
            <a:ext cx="859536" cy="274320"/>
          </a:xfrm>
          <a:prstGeom prst="roundRect">
            <a:avLst>
              <a:gd name="adj" fmla="val 16667"/>
            </a:avLst>
          </a:prstGeom>
          <a:solidFill>
            <a:srgbClr val="065A82"/>
          </a:solidFill>
          <a:ln/>
        </p:spPr>
      </p:sp>
      <p:sp>
        <p:nvSpPr>
          <p:cNvPr id="23" name="Text 21"/>
          <p:cNvSpPr/>
          <p:nvPr/>
        </p:nvSpPr>
        <p:spPr>
          <a:xfrm>
            <a:off x="4526280" y="3840480"/>
            <a:ext cx="859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Figure 4</a:t>
            </a:r>
            <a:endParaRPr lang="en-US" sz="1050" dirty="0"/>
          </a:p>
        </p:txBody>
      </p:sp>
      <p:pic>
        <p:nvPicPr>
          <p:cNvPr id="24" name="Image 0" descr="/Users/adhvayjagadeesh/Documents/Extracurricular/ASDRP/Vision-Impaired/GuideGlass/paper/simulation/fig_baselines.png">    </p:cNvPr>
          <p:cNvPicPr>
            <a:picLocks noChangeAspect="1"/>
          </p:cNvPicPr>
          <p:nvPr/>
        </p:nvPicPr>
        <p:blipFill>
          <a:blip r:embed="rId1"/>
          <a:stretch>
            <a:fillRect/>
          </a:stretch>
        </p:blipFill>
        <p:spPr>
          <a:xfrm>
            <a:off x="5742432" y="1225296"/>
            <a:ext cx="2898648" cy="1883664"/>
          </a:xfrm>
          <a:prstGeom prst="rect">
            <a:avLst/>
          </a:prstGeom>
        </p:spPr>
      </p:pic>
      <p:sp>
        <p:nvSpPr>
          <p:cNvPr id="25" name="Text 22"/>
          <p:cNvSpPr/>
          <p:nvPr/>
        </p:nvSpPr>
        <p:spPr>
          <a:xfrm>
            <a:off x="5742432" y="3145536"/>
            <a:ext cx="2898648" cy="256032"/>
          </a:xfrm>
          <a:prstGeom prst="rect">
            <a:avLst/>
          </a:prstGeom>
          <a:noFill/>
          <a:ln/>
        </p:spPr>
        <p:txBody>
          <a:bodyPr wrap="square" lIns="0" tIns="0" rIns="0" bIns="0" rtlCol="0" anchor="ctr"/>
          <a:lstStyle/>
          <a:p>
            <a:pPr algn="ctr" indent="0" marL="0">
              <a:buNone/>
            </a:pPr>
            <a:r>
              <a:rPr lang="en-US" sz="1050" i="1" dirty="0">
                <a:solidFill>
                  <a:srgbClr val="7A8290"/>
                </a:solidFill>
                <a:latin typeface="Calibri" pitchFamily="34" charset="0"/>
                <a:ea typeface="Calibri" pitchFamily="34" charset="-122"/>
                <a:cs typeface="Calibri" pitchFamily="34" charset="-120"/>
              </a:rPr>
              <a:t>Figure 3, the new baseline comparison</a:t>
            </a:r>
            <a:endParaRPr lang="en-US" sz="1050" dirty="0"/>
          </a:p>
        </p:txBody>
      </p:sp>
      <p:sp>
        <p:nvSpPr>
          <p:cNvPr id="26" name="Text 23"/>
          <p:cNvSpPr/>
          <p:nvPr/>
        </p:nvSpPr>
        <p:spPr>
          <a:xfrm>
            <a:off x="502920" y="3986784"/>
            <a:ext cx="5029200" cy="566928"/>
          </a:xfrm>
          <a:prstGeom prst="rect">
            <a:avLst/>
          </a:prstGeom>
          <a:noFill/>
          <a:ln/>
        </p:spPr>
        <p:txBody>
          <a:bodyPr wrap="square" lIns="0" tIns="0" rIns="0" bIns="0" rtlCol="0" anchor="ctr"/>
          <a:lstStyle/>
          <a:p>
            <a:pPr indent="0" marL="0">
              <a:lnSpc>
                <a:spcPts val="1500"/>
              </a:lnSpc>
              <a:buNone/>
            </a:pPr>
            <a:r>
              <a:rPr lang="en-US" sz="1200" dirty="0">
                <a:solidFill>
                  <a:srgbClr val="7A8290"/>
                </a:solidFill>
                <a:latin typeface="Calibri" pitchFamily="34" charset="0"/>
                <a:ea typeface="Calibri" pitchFamily="34" charset="-122"/>
                <a:cs typeface="Calibri" pitchFamily="34" charset="-120"/>
              </a:rPr>
              <a:t>The remaining seven figures support the longer version of the Results section and the tuning discussion.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indent="0" marL="0">
              <a:buNone/>
            </a:pPr>
            <a:r>
              <a:rPr lang="en-US" sz="1100" b="1" spc="160" kern="0" dirty="0">
                <a:solidFill>
                  <a:srgbClr val="1C7293"/>
                </a:solidFill>
                <a:latin typeface="Calibri" pitchFamily="34" charset="0"/>
                <a:ea typeface="Calibri" pitchFamily="34" charset="-122"/>
                <a:cs typeface="Calibri" pitchFamily="34" charset="-120"/>
              </a:rPr>
              <a:t>EXTENDING</a:t>
            </a:r>
            <a:endParaRPr lang="en-US" sz="1100" dirty="0"/>
          </a:p>
        </p:txBody>
      </p:sp>
      <p:sp>
        <p:nvSpPr>
          <p:cNvPr id="3" name="Text 1"/>
          <p:cNvSpPr/>
          <p:nvPr/>
        </p:nvSpPr>
        <p:spPr>
          <a:xfrm>
            <a:off x="502920" y="548640"/>
            <a:ext cx="8138160" cy="566928"/>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Changing a threshold and re-running</a:t>
            </a:r>
            <a:endParaRPr lang="en-US" sz="3000" dirty="0"/>
          </a:p>
        </p:txBody>
      </p:sp>
      <p:sp>
        <p:nvSpPr>
          <p:cNvPr id="4" name="Text 2"/>
          <p:cNvSpPr/>
          <p:nvPr/>
        </p:nvSpPr>
        <p:spPr>
          <a:xfrm>
            <a:off x="502920" y="1188720"/>
            <a:ext cx="8138160" cy="292608"/>
          </a:xfrm>
          <a:prstGeom prst="rect">
            <a:avLst/>
          </a:prstGeom>
          <a:noFill/>
          <a:ln/>
        </p:spPr>
        <p:txBody>
          <a:bodyPr wrap="square" lIns="0" tIns="0" rIns="0" bIns="0" rtlCol="0" anchor="ctr"/>
          <a:lstStyle/>
          <a:p>
            <a:pPr indent="0" marL="0">
              <a:buNone/>
            </a:pPr>
            <a:r>
              <a:rPr lang="en-US" sz="1400" dirty="0">
                <a:solidFill>
                  <a:srgbClr val="3D4451"/>
                </a:solidFill>
                <a:latin typeface="Calibri" pitchFamily="34" charset="0"/>
                <a:ea typeface="Calibri" pitchFamily="34" charset="-122"/>
                <a:cs typeface="Calibri" pitchFamily="34" charset="-120"/>
              </a:rPr>
              <a:t>Thresholds are module level constants, so a sweep is a loop rather than an edit.</a:t>
            </a:r>
            <a:endParaRPr lang="en-US" sz="1400" dirty="0"/>
          </a:p>
        </p:txBody>
      </p:sp>
      <p:sp>
        <p:nvSpPr>
          <p:cNvPr id="5" name="Shape 3"/>
          <p:cNvSpPr/>
          <p:nvPr/>
        </p:nvSpPr>
        <p:spPr>
          <a:xfrm>
            <a:off x="502920" y="1591056"/>
            <a:ext cx="5029200" cy="1938528"/>
          </a:xfrm>
          <a:prstGeom prst="roundRect">
            <a:avLst>
              <a:gd name="adj" fmla="val 2830"/>
            </a:avLst>
          </a:prstGeom>
          <a:solidFill>
            <a:srgbClr val="21295C"/>
          </a:solidFill>
          <a:ln/>
        </p:spPr>
      </p:sp>
      <p:sp>
        <p:nvSpPr>
          <p:cNvPr id="6" name="Text 4"/>
          <p:cNvSpPr/>
          <p:nvPr/>
        </p:nvSpPr>
        <p:spPr>
          <a:xfrm>
            <a:off x="667512" y="1700784"/>
            <a:ext cx="4700016" cy="1719072"/>
          </a:xfrm>
          <a:prstGeom prst="rect">
            <a:avLst/>
          </a:prstGeom>
          <a:noFill/>
          <a:ln/>
        </p:spPr>
        <p:txBody>
          <a:bodyPr wrap="square" lIns="0" tIns="0" rIns="0" bIns="0" rtlCol="0" anchor="ctr"/>
          <a:lstStyle/>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import numpy as np, sim_extra as sx</a:t>
            </a:r>
            <a:endParaRPr lang="en-US" sz="1200" dirty="0"/>
          </a:p>
          <a:p>
            <a:pPr indent="0" marL="0">
              <a:lnSpc>
                <a:spcPts val="1800"/>
              </a:lnSpc>
              <a:buNone/>
            </a:pP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rng = np.random.default_rng(23)</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for gate in [0.26, 0.34, 0.46]:</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    fa, miss = sx.eval_rule(rng, near_h=gate)</a:t>
            </a:r>
            <a:endParaRPr lang="en-US" sz="1200" dirty="0"/>
          </a:p>
          <a:p>
            <a:pPr indent="0" marL="0">
              <a:lnSpc>
                <a:spcPts val="1800"/>
              </a:lnSpc>
              <a:buNone/>
            </a:pPr>
            <a:r>
              <a:rPr lang="en-US" sz="1200" dirty="0">
                <a:solidFill>
                  <a:srgbClr val="E8EEF5"/>
                </a:solidFill>
                <a:latin typeface="Courier New" pitchFamily="34" charset="0"/>
                <a:ea typeface="Courier New" pitchFamily="34" charset="-122"/>
                <a:cs typeface="Courier New" pitchFamily="34" charset="-120"/>
              </a:rPr>
              <a:t>    print(gate, round(fa, 2), round(miss, 1))</a:t>
            </a:r>
            <a:endParaRPr lang="en-US" sz="1200" dirty="0"/>
          </a:p>
        </p:txBody>
      </p:sp>
      <p:sp>
        <p:nvSpPr>
          <p:cNvPr id="7" name="Shape 5"/>
          <p:cNvSpPr/>
          <p:nvPr/>
        </p:nvSpPr>
        <p:spPr>
          <a:xfrm>
            <a:off x="5742432" y="1591056"/>
            <a:ext cx="2898648" cy="1938528"/>
          </a:xfrm>
          <a:prstGeom prst="roundRect">
            <a:avLst>
              <a:gd name="adj" fmla="val 2358"/>
            </a:avLst>
          </a:prstGeom>
          <a:solidFill>
            <a:srgbClr val="F1F4F8"/>
          </a:solidFill>
          <a:ln/>
        </p:spPr>
      </p:sp>
      <p:sp>
        <p:nvSpPr>
          <p:cNvPr id="8" name="Text 6"/>
          <p:cNvSpPr/>
          <p:nvPr/>
        </p:nvSpPr>
        <p:spPr>
          <a:xfrm>
            <a:off x="5925312" y="1719072"/>
            <a:ext cx="256032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Useful entry points</a:t>
            </a:r>
            <a:endParaRPr lang="en-US" sz="1300" dirty="0"/>
          </a:p>
        </p:txBody>
      </p:sp>
      <p:sp>
        <p:nvSpPr>
          <p:cNvPr id="9" name="Text 7"/>
          <p:cNvSpPr/>
          <p:nvPr/>
        </p:nvSpPr>
        <p:spPr>
          <a:xfrm>
            <a:off x="5925312" y="2048256"/>
            <a:ext cx="2560320" cy="1371600"/>
          </a:xfrm>
          <a:prstGeom prst="rect">
            <a:avLst/>
          </a:prstGeom>
          <a:noFill/>
          <a:ln/>
        </p:spPr>
        <p:txBody>
          <a:bodyPr wrap="square" lIns="0" tIns="0" rIns="0" bIns="0" rtlCol="0" anchor="ctr"/>
          <a:lstStyle/>
          <a:p>
            <a:pPr indent="0" marL="0">
              <a:lnSpc>
                <a:spcPts val="1500"/>
              </a:lnSpc>
              <a:buNone/>
            </a:pPr>
            <a:r>
              <a:rPr lang="en-US" sz="1150" dirty="0">
                <a:solidFill>
                  <a:srgbClr val="065A82"/>
                </a:solidFill>
                <a:latin typeface="Courier New" pitchFamily="34" charset="0"/>
                <a:ea typeface="Courier New" pitchFamily="34" charset="-122"/>
                <a:cs typeface="Courier New" pitchFamily="34" charset="-120"/>
              </a:rPr>
              <a:t>frame_danger</a:t>
            </a:r>
            <a:endParaRPr lang="en-US" sz="1150" dirty="0"/>
          </a:p>
          <a:p>
            <a:pPr indent="0" marL="0">
              <a:lnSpc>
                <a:spcPts val="1500"/>
              </a:lnSpc>
              <a:buNone/>
            </a:pPr>
            <a:r>
              <a:rPr lang="en-US" sz="1150" dirty="0">
                <a:solidFill>
                  <a:srgbClr val="3D4451"/>
                </a:solidFill>
                <a:latin typeface="Calibri" pitchFamily="34" charset="0"/>
                <a:ea typeface="Calibri" pitchFamily="34" charset="-122"/>
                <a:cs typeface="Calibri" pitchFamily="34" charset="-120"/>
              </a:rPr>
              <a:t>one frame verdict</a:t>
            </a:r>
            <a:endParaRPr lang="en-US" sz="1150" dirty="0"/>
          </a:p>
          <a:p>
            <a:pPr indent="0" marL="0">
              <a:lnSpc>
                <a:spcPts val="1500"/>
              </a:lnSpc>
              <a:buNone/>
            </a:pPr>
            <a:r>
              <a:rPr lang="en-US" sz="1150" dirty="0">
                <a:solidFill>
                  <a:srgbClr val="065A82"/>
                </a:solidFill>
                <a:latin typeface="Courier New" pitchFamily="34" charset="0"/>
                <a:ea typeface="Courier New" pitchFamily="34" charset="-122"/>
                <a:cs typeface="Courier New" pitchFamily="34" charset="-120"/>
              </a:rPr>
              <a:t>eval_rule</a:t>
            </a:r>
            <a:endParaRPr lang="en-US" sz="1150" dirty="0"/>
          </a:p>
          <a:p>
            <a:pPr indent="0" marL="0">
              <a:lnSpc>
                <a:spcPts val="1500"/>
              </a:lnSpc>
              <a:buNone/>
            </a:pPr>
            <a:r>
              <a:rPr lang="en-US" sz="1150" dirty="0">
                <a:solidFill>
                  <a:srgbClr val="3D4451"/>
                </a:solidFill>
                <a:latin typeface="Calibri" pitchFamily="34" charset="0"/>
                <a:ea typeface="Calibri" pitchFamily="34" charset="-122"/>
                <a:cs typeface="Calibri" pitchFamily="34" charset="-120"/>
              </a:rPr>
              <a:t>error rates for a rule</a:t>
            </a:r>
            <a:endParaRPr lang="en-US" sz="1150" dirty="0"/>
          </a:p>
          <a:p>
            <a:pPr indent="0" marL="0">
              <a:lnSpc>
                <a:spcPts val="1500"/>
              </a:lnSpc>
              <a:buNone/>
            </a:pPr>
            <a:r>
              <a:rPr lang="en-US" sz="1150" dirty="0">
                <a:solidFill>
                  <a:srgbClr val="065A82"/>
                </a:solidFill>
                <a:latin typeface="Courier New" pitchFamily="34" charset="0"/>
                <a:ea typeface="Courier New" pitchFamily="34" charset="-122"/>
                <a:cs typeface="Courier New" pitchFamily="34" charset="-120"/>
              </a:rPr>
              <a:t>RULES</a:t>
            </a:r>
            <a:endParaRPr lang="en-US" sz="1150" dirty="0"/>
          </a:p>
          <a:p>
            <a:pPr indent="0" marL="0">
              <a:lnSpc>
                <a:spcPts val="1500"/>
              </a:lnSpc>
              <a:buNone/>
            </a:pPr>
            <a:r>
              <a:rPr lang="en-US" sz="1150" dirty="0">
                <a:solidFill>
                  <a:srgbClr val="3D4451"/>
                </a:solidFill>
                <a:latin typeface="Calibri" pitchFamily="34" charset="0"/>
                <a:ea typeface="Calibri" pitchFamily="34" charset="-122"/>
                <a:cs typeface="Calibri" pitchFamily="34" charset="-120"/>
              </a:rPr>
              <a:t>add a new baseline here</a:t>
            </a:r>
            <a:endParaRPr lang="en-US" sz="1150" dirty="0"/>
          </a:p>
        </p:txBody>
      </p:sp>
      <p:sp>
        <p:nvSpPr>
          <p:cNvPr id="10" name="Text 8"/>
          <p:cNvSpPr/>
          <p:nvPr/>
        </p:nvSpPr>
        <p:spPr>
          <a:xfrm>
            <a:off x="502920" y="3712464"/>
            <a:ext cx="8138160" cy="512064"/>
          </a:xfrm>
          <a:prstGeom prst="rect">
            <a:avLst/>
          </a:prstGeom>
          <a:noFill/>
          <a:ln/>
        </p:spPr>
        <p:txBody>
          <a:bodyPr wrap="square" lIns="0" tIns="0" rIns="0" bIns="0" rtlCol="0" anchor="ctr"/>
          <a:lstStyle/>
          <a:p>
            <a:pPr indent="0" marL="0">
              <a:lnSpc>
                <a:spcPts val="1700"/>
              </a:lnSpc>
              <a:buNone/>
            </a:pPr>
            <a:r>
              <a:rPr lang="en-US" sz="1300" dirty="0">
                <a:solidFill>
                  <a:srgbClr val="21295C"/>
                </a:solidFill>
                <a:latin typeface="Calibri" pitchFamily="34" charset="0"/>
                <a:ea typeface="Calibri" pitchFamily="34" charset="-122"/>
                <a:cs typeface="Calibri" pitchFamily="34" charset="-120"/>
              </a:rPr>
              <a:t>Adding a comparator means appending one function and one row to RULES in sim_baselines.py. The scoring harness picks it up automatically.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02336"/>
            <a:ext cx="8046720" cy="219456"/>
          </a:xfrm>
          <a:prstGeom prst="rect">
            <a:avLst/>
          </a:prstGeom>
          <a:noFill/>
          <a:ln/>
        </p:spPr>
        <p:txBody>
          <a:bodyPr wrap="square" lIns="0" tIns="0" rIns="0" bIns="0" rtlCol="0" anchor="ctr"/>
          <a:lstStyle/>
          <a:p>
            <a:pPr indent="0" marL="0">
              <a:buNone/>
            </a:pPr>
            <a:r>
              <a:rPr lang="en-US" sz="1100" b="1" spc="160" kern="0" dirty="0">
                <a:solidFill>
                  <a:srgbClr val="FFB627"/>
                </a:solidFill>
                <a:latin typeface="Calibri" pitchFamily="34" charset="0"/>
                <a:ea typeface="Calibri" pitchFamily="34" charset="-122"/>
                <a:cs typeface="Calibri" pitchFamily="34" charset="-120"/>
              </a:rPr>
              <a:t>STATE THIS WHEN PRESENTING</a:t>
            </a:r>
            <a:endParaRPr lang="en-US" sz="1100" dirty="0"/>
          </a:p>
        </p:txBody>
      </p:sp>
      <p:sp>
        <p:nvSpPr>
          <p:cNvPr id="3" name="Text 1"/>
          <p:cNvSpPr/>
          <p:nvPr/>
        </p:nvSpPr>
        <p:spPr>
          <a:xfrm>
            <a:off x="548640" y="658368"/>
            <a:ext cx="8046720" cy="530352"/>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What replication does and does not prove</a:t>
            </a:r>
            <a:endParaRPr lang="en-US" sz="2900" dirty="0"/>
          </a:p>
        </p:txBody>
      </p:sp>
      <p:sp>
        <p:nvSpPr>
          <p:cNvPr id="4" name="Shape 2"/>
          <p:cNvSpPr/>
          <p:nvPr/>
        </p:nvSpPr>
        <p:spPr>
          <a:xfrm>
            <a:off x="548640" y="1353312"/>
            <a:ext cx="3977640" cy="2011680"/>
          </a:xfrm>
          <a:prstGeom prst="roundRect">
            <a:avLst>
              <a:gd name="adj" fmla="val 2727"/>
            </a:avLst>
          </a:prstGeom>
          <a:solidFill>
            <a:srgbClr val="2E3B75"/>
          </a:solidFill>
          <a:ln/>
        </p:spPr>
      </p:sp>
      <p:sp>
        <p:nvSpPr>
          <p:cNvPr id="5" name="Shape 3"/>
          <p:cNvSpPr/>
          <p:nvPr/>
        </p:nvSpPr>
        <p:spPr>
          <a:xfrm>
            <a:off x="731520" y="1517904"/>
            <a:ext cx="1572768" cy="292608"/>
          </a:xfrm>
          <a:prstGeom prst="roundRect">
            <a:avLst>
              <a:gd name="adj" fmla="val 15625"/>
            </a:avLst>
          </a:prstGeom>
          <a:solidFill>
            <a:srgbClr val="0F8A6A"/>
          </a:solidFill>
          <a:ln/>
        </p:spPr>
      </p:sp>
      <p:sp>
        <p:nvSpPr>
          <p:cNvPr id="6" name="Text 4"/>
          <p:cNvSpPr/>
          <p:nvPr/>
        </p:nvSpPr>
        <p:spPr>
          <a:xfrm>
            <a:off x="731520" y="1517904"/>
            <a:ext cx="157276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Does prove</a:t>
            </a:r>
            <a:endParaRPr lang="en-US" sz="1150" dirty="0"/>
          </a:p>
        </p:txBody>
      </p:sp>
      <p:sp>
        <p:nvSpPr>
          <p:cNvPr id="7" name="Text 5"/>
          <p:cNvSpPr/>
          <p:nvPr/>
        </p:nvSpPr>
        <p:spPr>
          <a:xfrm>
            <a:off x="731520" y="1938528"/>
            <a:ext cx="3611880" cy="1298448"/>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The decision layer behaves as designed</a:t>
            </a:r>
            <a:endParaRPr lang="en-US" sz="1200" dirty="0"/>
          </a:p>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Results are exactly reproducible</a:t>
            </a:r>
            <a:endParaRPr lang="en-US" sz="1200" dirty="0"/>
          </a:p>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Comparisons are contestable by anyone</a:t>
            </a:r>
            <a:endParaRPr lang="en-US" sz="1200" dirty="0"/>
          </a:p>
        </p:txBody>
      </p:sp>
      <p:sp>
        <p:nvSpPr>
          <p:cNvPr id="8" name="Shape 6"/>
          <p:cNvSpPr/>
          <p:nvPr/>
        </p:nvSpPr>
        <p:spPr>
          <a:xfrm>
            <a:off x="4846320" y="1353312"/>
            <a:ext cx="3977640" cy="2011680"/>
          </a:xfrm>
          <a:prstGeom prst="roundRect">
            <a:avLst>
              <a:gd name="adj" fmla="val 2727"/>
            </a:avLst>
          </a:prstGeom>
          <a:solidFill>
            <a:srgbClr val="2E3B75"/>
          </a:solidFill>
          <a:ln/>
        </p:spPr>
      </p:sp>
      <p:sp>
        <p:nvSpPr>
          <p:cNvPr id="9" name="Shape 7"/>
          <p:cNvSpPr/>
          <p:nvPr/>
        </p:nvSpPr>
        <p:spPr>
          <a:xfrm>
            <a:off x="5029200" y="1517904"/>
            <a:ext cx="1572768" cy="292608"/>
          </a:xfrm>
          <a:prstGeom prst="roundRect">
            <a:avLst>
              <a:gd name="adj" fmla="val 15625"/>
            </a:avLst>
          </a:prstGeom>
          <a:solidFill>
            <a:srgbClr val="9E3A3A"/>
          </a:solidFill>
          <a:ln/>
        </p:spPr>
      </p:sp>
      <p:sp>
        <p:nvSpPr>
          <p:cNvPr id="10" name="Text 8"/>
          <p:cNvSpPr/>
          <p:nvPr/>
        </p:nvSpPr>
        <p:spPr>
          <a:xfrm>
            <a:off x="5029200" y="1517904"/>
            <a:ext cx="157276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Does not prove</a:t>
            </a:r>
            <a:endParaRPr lang="en-US" sz="1150" dirty="0"/>
          </a:p>
        </p:txBody>
      </p:sp>
      <p:sp>
        <p:nvSpPr>
          <p:cNvPr id="11" name="Text 9"/>
          <p:cNvSpPr/>
          <p:nvPr/>
        </p:nvSpPr>
        <p:spPr>
          <a:xfrm>
            <a:off x="5029200" y="1938528"/>
            <a:ext cx="3611880" cy="1298448"/>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That the detector boxes the obstacle at all</a:t>
            </a:r>
            <a:endParaRPr lang="en-US" sz="1200" dirty="0"/>
          </a:p>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Behaviour under real light, blur, and hardware</a:t>
            </a:r>
            <a:endParaRPr lang="en-US" sz="1200" dirty="0"/>
          </a:p>
          <a:p>
            <a:pPr marL="342900" indent="-342900">
              <a:lnSpc>
                <a:spcPts val="1600"/>
              </a:lnSpc>
              <a:spcAft>
                <a:spcPts val="600"/>
              </a:spcAft>
              <a:buSzPct val="100000"/>
              <a:buChar char="•"/>
            </a:pPr>
            <a:r>
              <a:rPr lang="en-US" sz="1200" dirty="0">
                <a:solidFill>
                  <a:srgbClr val="DCE6F0"/>
                </a:solidFill>
                <a:latin typeface="Calibri" pitchFamily="34" charset="0"/>
                <a:ea typeface="Calibri" pitchFamily="34" charset="-122"/>
                <a:cs typeface="Calibri" pitchFamily="34" charset="-120"/>
              </a:rPr>
              <a:t>Anything about safety for a real traveller</a:t>
            </a:r>
            <a:endParaRPr lang="en-US" sz="1200" dirty="0"/>
          </a:p>
        </p:txBody>
      </p:sp>
      <p:sp>
        <p:nvSpPr>
          <p:cNvPr id="12" name="Text 10"/>
          <p:cNvSpPr/>
          <p:nvPr/>
        </p:nvSpPr>
        <p:spPr>
          <a:xfrm>
            <a:off x="548640" y="3602736"/>
            <a:ext cx="8046720" cy="512064"/>
          </a:xfrm>
          <a:prstGeom prst="rect">
            <a:avLst/>
          </a:prstGeom>
          <a:noFill/>
          <a:ln/>
        </p:spPr>
        <p:txBody>
          <a:bodyPr wrap="square" lIns="0" tIns="0" rIns="0" bIns="0" rtlCol="0" anchor="ctr"/>
          <a:lstStyle/>
          <a:p>
            <a:pPr indent="0" marL="0">
              <a:lnSpc>
                <a:spcPts val="1700"/>
              </a:lnSpc>
              <a:buNone/>
            </a:pPr>
            <a:r>
              <a:rPr lang="en-US" sz="1300" i="1" dirty="0">
                <a:solidFill>
                  <a:srgbClr val="AEC3D6"/>
                </a:solidFill>
                <a:latin typeface="Calibri" pitchFamily="34" charset="0"/>
                <a:ea typeface="Calibri" pitchFamily="34" charset="-122"/>
                <a:cs typeface="Calibri" pitchFamily="34" charset="-120"/>
              </a:rPr>
              <a:t>Camera geometry, frame rate, and walking speed are stated assumptions, not measurements. The field tests exist to check them.</a:t>
            </a:r>
            <a:endParaRPr lang="en-US" sz="1300" dirty="0"/>
          </a:p>
        </p:txBody>
      </p:sp>
      <p:sp>
        <p:nvSpPr>
          <p:cNvPr id="13" name="Text 11"/>
          <p:cNvSpPr/>
          <p:nvPr/>
        </p:nvSpPr>
        <p:spPr>
          <a:xfrm>
            <a:off x="548640" y="4315968"/>
            <a:ext cx="8046720" cy="274320"/>
          </a:xfrm>
          <a:prstGeom prst="rect">
            <a:avLst/>
          </a:prstGeom>
          <a:noFill/>
          <a:ln/>
        </p:spPr>
        <p:txBody>
          <a:bodyPr wrap="square" lIns="0" tIns="0" rIns="0" bIns="0" rtlCol="0" anchor="ctr"/>
          <a:lstStyle/>
          <a:p>
            <a:pPr indent="0" marL="0">
              <a:buNone/>
            </a:pPr>
            <a:r>
              <a:rPr lang="en-US" sz="1100" dirty="0">
                <a:solidFill>
                  <a:srgbClr val="1C7293"/>
                </a:solidFill>
                <a:latin typeface="Courier New" pitchFamily="34" charset="0"/>
                <a:ea typeface="Courier New" pitchFamily="34" charset="-122"/>
                <a:cs typeface="Courier New" pitchFamily="34" charset="-120"/>
              </a:rPr>
              <a:t>github.com/adhvayjagadeesh/GuideGlass  ·  paper/simulation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Replicating the VisionAI Reflex Simulations</dc:title>
  <dc:subject>PptxGenJS Presentation</dc:subject>
  <dc:creator>ASDRP VisionAI</dc:creator>
  <cp:lastModifiedBy>ASDRP VisionAI</cp:lastModifiedBy>
  <cp:revision>1</cp:revision>
  <dcterms:created xsi:type="dcterms:W3CDTF">2026-07-30T03:20:13Z</dcterms:created>
  <dcterms:modified xsi:type="dcterms:W3CDTF">2026-07-30T03:20:13Z</dcterms:modified>
</cp:coreProperties>
</file>